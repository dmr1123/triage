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331720"/>
          </a:xfrm>
          <a:prstGeom prst="roundRect">
            <a:avLst>
              <a:gd name="adj" fmla="val 10000"/>
            </a:avLst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331720"/>
            <a:ext cx="12191695" cy="64008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LLM / MCP 工具檢索:方法與 Benchmark 總覽</a:t>
            </a:r>
          </a:p>
          <a:p>
            <a:pPr algn="l"/>
            <a:r>
              <a:rPr sz="1500" b="0">
                <a:solidFill>
                  <a:srgbClr val="BFDBFE"/>
                </a:solidFill>
                <a:latin typeface="Microsoft JhengHei"/>
                <a:ea typeface="Microsoft JhengHei"/>
                <a:cs typeface="Microsoft JhengHei"/>
              </a:rPr>
              <a:t>Tool Retrieval for LLM Agents &amp; Model Context Protocol — 給初學者的入門地圖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這份簡報回答四個問題: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1. 為什麼 AI 助理需要「先挑工具、再動手」?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2. 現有方法分成哪幾派?各自怎麼「訓練」或變強?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3. 每一派實際有多強?(全部使用原論文數字)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4. 有哪些考卷(benchmark)可以拿來比?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涵蓋 2023–2025 約 30 篇經逐篇查證的論文|出處優先級:ICLR/ICML/NeurIPS → ACL/EMNLP/CIKM 等 → arXiv|完整引用見文末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LLM 不只會聊天:它可以「呼叫工具」做事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使用者說「幫我查明天台北天氣再寄給小王」,LLM 不自己瞎編,</a:t>
            </a:r>
          </a:p>
          <a:p>
            <a:pPr algn="l"/>
            <a:r>
              <a:rPr sz="13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而是挑出對的工具(查天氣、寄郵件)、填好參數、依序呼叫 —— 這叫「函式呼叫(function calling)」。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01167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LLM(大腦)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3200400"/>
            <a:ext cx="548640" cy="31089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03320" y="2121408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121408"/>
            <a:ext cx="201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查天氣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688336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688336"/>
            <a:ext cx="201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寄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255263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3255263"/>
            <a:ext cx="201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行事曆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822191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3822191"/>
            <a:ext cx="201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查資料庫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438912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4389120"/>
            <a:ext cx="201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…上千個工具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20240"/>
            <a:ext cx="5257800" cy="3977639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48840"/>
            <a:ext cx="47548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MCP(Model Context Protocol)是什麼?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把「工具怎麼接、怎麼描述、怎麼呼叫」統一成標準協定 —— 像 USB-C: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工具商把功能包成「MCP server」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任何 AI 助理插上就能用,不用逐家客製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代價:生態爆炸 —— 官方社群已有數千個 server / 工具</a:t>
            </a:r>
          </a:p>
          <a:p>
            <a:pPr algn="l"/>
            <a:r>
              <a:rPr sz="13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工具越多,「挑對工具」就越難 → 這就是本簡報的主題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類比:一位助理(LLM)+ 一整面牆的工具箱(API / MCP servers)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工具一多,兩件事會壞掉:塞不下、選不準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394960" cy="41148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做法一:把所有工具說明全塞進提示(prompt)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292608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6517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提示視窗(有限)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工具1說明…工具2說明…工具3說明…工具4說明…工具5說明…工具6說明…工具7…</a:t>
            </a:r>
          </a:p>
          <a:p>
            <a:pPr algn="l"/>
            <a:r>
              <a:rPr sz="11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(…還有 990 個塞不下)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651760"/>
            <a:ext cx="1828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→ 又貴又慢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→ 超出視窗</a:t>
            </a:r>
          </a:p>
          <a:p>
            <a:pPr algn="l"/>
            <a:r>
              <a:rPr sz="13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→ 無關工具會「帶偏」模型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原論文實測(RAG-MCP 壓力測試,arXiv 2025)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402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2350008"/>
            <a:ext cx="2423160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13.62%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全部塞進去時
選對工具的比率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2402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350008"/>
            <a:ext cx="2423160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2,134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平均提示 tokens
(全塞基線)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88620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→ 工具數量放大後,「全塞」幾乎等於亂猜。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MCP-Universe(Salesforce)同時顯示:「陌生工具」是頂尖模型失敗兩大主因之一。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892040"/>
            <a:ext cx="5394960" cy="8686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5029200"/>
            <a:ext cx="5029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結論:需要一個「先幫 LLM 挑工具」的前置模組 —— 工具檢索器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數字出處:RAG-MCP (arXiv:2505.03275);MCP-Universe (arXiv:2508.14704)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工具檢索:先從工具庫「撈出幾個候選」,再讓 LLM 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828800" cy="10058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1737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使用者查詢
「查天氣寄給小王」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68880" y="2633472"/>
            <a:ext cx="457200" cy="31089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2286000"/>
            <a:ext cx="2148840" cy="10058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39" y="2286000"/>
            <a:ext cx="2057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工具檢索器 ω
(本簡報主角)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57800" y="2633472"/>
            <a:ext cx="457200" cy="31089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06440" y="228600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2286000"/>
            <a:ext cx="18745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少數候選工具
(例如 Top-5)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63840" y="2633472"/>
            <a:ext cx="457200" cy="31089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2286000"/>
            <a:ext cx="1737360" cy="10058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286000"/>
            <a:ext cx="16459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LLM 選函式
+ 填參數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241280" y="2633472"/>
            <a:ext cx="457200" cy="31089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44200" y="2286000"/>
            <a:ext cx="1051560" cy="10058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2286000"/>
            <a:ext cx="9601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執行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023360"/>
            <a:ext cx="2148840" cy="8686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39" y="4023360"/>
            <a:ext cx="2057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工具庫 F
數百~數千個描述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977639" y="3429000"/>
            <a:ext cx="310896" cy="54864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411480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多步任務:每呼叫完一個工具,「已呼叫歷史」可以回饋給檢索器,幫下一步挑得更準(進階流派 B/C)。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12080"/>
            <a:ext cx="11201400" cy="9601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4924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比喻:圖書館員(檢索器)先從百萬藏書挑 5 本給教授(LLM);教授只讀 5 本,又快又不會被雜書干擾。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好處三合一:省 token(便宜快速)、不爆視窗、候選乾淨 → 選得準。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怎麼打分數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看懂論文數字前,先認識 4 個常用指標(白話版)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394960" cy="219456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01368"/>
            <a:ext cx="5065776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Recall@K(召回率)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「前 K 名候選裡,有沒有把正確工具找齊?」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例:需要 2 個工具,Top-5 裡找到 2 個 → Recall=100%。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COLT 提出更嚴的 COMP@K:要「一次湊齊整套」才算對。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94960" cy="219456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801368"/>
            <a:ext cx="5065776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NDCG@K(排名品質)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「對的工具排得夠不夠前面?」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排第 1 名得分最高、越後面折扣越多;0~1 之間,越高越好。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檢索論文最常用的主指標。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39"/>
            <a:ext cx="5394960" cy="219456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178807"/>
            <a:ext cx="5065776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函式選擇正確率 / 成功率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「LLM 最後選的函式對不對?整個任務有沒有做完?」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端到端成功率最嚴:選錯一個函式或填錯一個參數,整題算失敗。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這才是使用者真正在乎的分數。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977639"/>
            <a:ext cx="5394960" cy="219456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39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4178807"/>
            <a:ext cx="5065776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pass^k(穩定性)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「同一題做 k 次,是不是每次都對?」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τ-bench 提出:GPT-4o 級代理單次 &lt;50%,零售域連續 8 次全對 &lt;25%。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衡量「靠不靠得住」,不是「有沒有巧合做對」。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pass^k 出處:τ-bench (arXiv:2406.12045)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全景圖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六大流派 + MCP 專區 + 新戰線 G:按「怎麼變強 / 在哪注入」分類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394960" cy="1207008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457200" cy="1207008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657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9047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免訓練(prompt/索引層)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不訓練任何模型。比對關鍵字/向量,或請 LLM 改寫查詢與工具說明、甚至讓 GPT-4 當檢索代理。</a:t>
            </a:r>
          </a:p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代表:BM25、Re-Invoke、EasyTool、Toolshed、AnyTool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120700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457200" cy="120700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417320"/>
            <a:ext cx="3657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9047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訓練專用檢索器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用「查詢→正確工具」資料訓一個小模型(雙塔向量或分類器);進階版連「已呼叫歷史」一起看。</a:t>
            </a:r>
          </a:p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代表:ToolLLM 檢索器、COLT、ToolRet-train、TinyAgent、DTDR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43200"/>
            <a:ext cx="5394960" cy="1207008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57200" cy="1207008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3657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8163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圖與依賴結構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從示範軌跡挖「工具 A 的輸出接工具 B」的依賴,建工具圖來縮小候選或強化向量。</a:t>
            </a:r>
          </a:p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代表:ToolNet、Tool Graph Retriever、ControlLLM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43200"/>
            <a:ext cx="5394960" cy="1207008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2743200"/>
            <a:ext cx="457200" cy="1207008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743200"/>
            <a:ext cx="3657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8163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生成式檢索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工具變成 LLM 詞表裡的「新單字」,檢索=直接生成那個字;不再外掛檢索器。</a:t>
            </a:r>
          </a:p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代表:ToolkenGPT、ToolGen、Octopus v2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69080"/>
            <a:ext cx="5394960" cy="1207008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457200" cy="1207008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69080"/>
            <a:ext cx="3657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4223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微調呼叫端 LLM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把「會用檢索結果」練進 LLM:訓練時餵檢索文件、遮掉函式名逼它讀說明、合成大量呼叫資料。</a:t>
            </a:r>
          </a:p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代表:Gorilla、Hammer、ToolACE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069080"/>
            <a:ext cx="5394960" cy="1207008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4069080"/>
            <a:ext cx="457200" cy="1207008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4069080"/>
            <a:ext cx="3657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4223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MCP 專屬系統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面對動態上下架的數千 MCP 工具:外掛向量索引、讓模型主動「開口要工具」、索引自動同步。</a:t>
            </a:r>
          </a:p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代表:RAG-MCP、MCP-Zero、ScaleMCP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13248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413248"/>
            <a:ext cx="457200" cy="91440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13248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47725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新戰線:activation 注入(2026)—— 不改字面、直接改「腦內狀態」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免訓練、KB 級資產、零 context 成本;probe 證明「模型早就知道」再用向量/起筆把它「說出口」。代表:ASA、KnowWhen、Looking(+診斷 KDGap)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流派 A|免訓練(1/2)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最樸素的起點:查詢和工具說明「比相似」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查詢:「幫我算
兩地開車時間」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工具說明:
「路線導航 API…」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96596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BM25(關鍵字)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數「共同單字」出現多少;快,但同義詞就漏(開車≠導航)。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65760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79476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向量相似(語意)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句子壓成向量,夾角小=意思近;能抓同義,現成模型即可。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257800" cy="40233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19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但是 —— 「會找文件 ≠ 會找工具」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ToolRet(ACL 2025 Findings)用 7.6k 個檢索任務、43k 個工具實測: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在傳統文件檢索排行榜很強的模型,到工具檢索普遍表現差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檢索差 → 下游 LLM 做任務的通過率跟著掉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用他們做的 20 萬筆工具檢索資料微調後,才顯著改善</a:t>
            </a:r>
          </a:p>
          <a:p>
            <a:pPr algn="l"/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原因:工具說明短、術語密;「相關」的真正定義是「這工具能把任務做完」,不是「字面像」。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出處:ToolRet (Findings of ACL 2025, arXiv:2503.01763)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流派 A|免訓練(2/2)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讓 LLM 幫忙「改寫兩端」或「親自去找」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577840" cy="237744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Re-Invoke(Findings of EMNLP 2024)— 雙向改寫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16916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600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工具說明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4600" y="2450592"/>
            <a:ext cx="411480" cy="274320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71800" y="2240280"/>
            <a:ext cx="28346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240280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LLM 先合成「這工具會被
怎麼問」的假查詢(離線)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63240"/>
            <a:ext cx="16916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63240"/>
            <a:ext cx="1600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使用者查詢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14600" y="3273552"/>
            <a:ext cx="411480" cy="274320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71800" y="3063240"/>
            <a:ext cx="28346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063240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LLM 抽出核心「工具意圖」
(去雜訊、拆多意圖)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0020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09928"/>
            <a:ext cx="164592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+20%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單工具 nDCG@5
(相對提升,ToolE)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60020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709928"/>
            <a:ext cx="164592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+39%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多工具 nDCG@5
(相對提升,ToolE)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16002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9" y="1709928"/>
            <a:ext cx="123444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0 訓練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全程無監督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6052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160520"/>
            <a:ext cx="3611880" cy="822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361688"/>
            <a:ext cx="3282696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EasyTool(NAACL 2025)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把又長又亂的工具文件改寫成統一精簡說明。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ToolBench 文件 2,530 → 748 tokens(−70.4%),表現同步提升。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416052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51960" y="4160520"/>
            <a:ext cx="3611880" cy="822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4361688"/>
            <a:ext cx="3282696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Toolshed(ICAART 2025)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檢索前/中/後三階段 RAG 組合拳(文件增強+查詢改寫+重排反思)。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Recall@5 絕對提升:ToolE 單 +46%、多 +56%、Seal-Tools +47%。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4160520"/>
            <a:ext cx="3657600" cy="196596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01000" y="4160520"/>
            <a:ext cx="3657600" cy="822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4361688"/>
            <a:ext cx="3328416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AnyTool(ICML 2024)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GPT-4 當「階層式檢索代理」:分類→工具→API 逐層找,失敗會自我反省重找。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平均通過率比 ToolLLM +35.4%;代價是 GPT-4 多輪呼叫、貴且慢。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出處:Re-Invoke (arXiv:2408.01875)、EasyTool (arXiv:2401.06201)、Toolshed (arXiv:2410.14594)、AnyTool (arXiv:2402.04253)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流派 B|訓練檢索器(1/2)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對比學習:把「對的工具」拉近、「錯的」推遠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394960" cy="2743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訓練一個小的「雙塔」向量模型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8600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4630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查詢向量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488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14884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正確工具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10896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310896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無關工具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21284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拉近→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06324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←推遠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訓練資料:標註或 LLM 合成的(查詢, 正確工具)配對。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394960" cy="1600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600200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1801368"/>
            <a:ext cx="5065776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ToolLLM API Retriever(ICLR 2024 Spotlight)— 開山標配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在 16,464 個真實 RapidAPI 上微調 Sentence-BERT。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NDCG 全面大勝 BM25 與 OpenAI ada 向量;單工具比多工具好找。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之後幾乎所有論文的最強公版基線(俗稱 ToolRetriever)。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83280"/>
            <a:ext cx="5394960" cy="13258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383280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3584448"/>
            <a:ext cx="5065776" cy="996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ToolRet-train(Findings of ACL 2025)— 幫 IR 模型補課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20 萬筆工具檢索訓練資料;微調後,原本疲軟的 IR 模型顯著變強。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72000"/>
            <a:ext cx="5394960" cy="15544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572000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773168"/>
            <a:ext cx="5065776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COLT(CIKM 2024)— 從「找相似」到「湊齊一套」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多工具任務漏一個=整題失敗。查詢-場景-工具建圖 + 圖對比學習,學「哪些工具要一起出現」;提出 COMP@K 指標,完整涵蓋才算分。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46320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4846320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5047488"/>
            <a:ext cx="506577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TinyAgent ToolRAG(EMNLP 2024 Demo)— 端側分類器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微調 DeBERTa 小模型做多標籤分類;配 1.1B/7B 端側模型,整體成功率超過 GPT-4-Turbo。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出處:ToolLLM (arXiv:2307.16789)、ToolRet (2503.01763)、COLT (2405.16089)、TinyAgent (2409.00608)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流派 B|訓練檢索器(2/2)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DTDR:多步任務,要連「已經呼叫了什麼」一起看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394960" cy="21031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靜態檢索器:只看查詢 → 每一步都給同一批工具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46304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查詢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0" y="2377440"/>
            <a:ext cx="365760" cy="256032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2194560"/>
            <a:ext cx="173736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194560"/>
            <a:ext cx="164591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檢索器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480560" y="2377440"/>
            <a:ext cx="365760" cy="256032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92040" y="2194560"/>
            <a:ext cx="86868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2194560"/>
            <a:ext cx="777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同一批
候選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7180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問題:老是推「最常見工具」;計畫越長排序越糟(9 步時 Top-1 只剩 12.9%)。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94960" cy="22402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502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DTDR(arXiv 2025,Qualcomm):查詢 + 呼叫歷史一起進檢索器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262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查詢 +
已呼叫序列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286000" y="4773168"/>
            <a:ext cx="365760" cy="256032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97480" y="452628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45262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DTDR-L:1層線性分類器
DTDR-C:分群+馬可夫圖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892040" y="4773168"/>
            <a:ext cx="365760" cy="256032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03520" y="4526280"/>
            <a:ext cx="548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4526280"/>
            <a:ext cx="457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下一步
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直覺:已經開了檔案、做完摘要 → 下一步大概要寄信,不是再開一次檔案。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6459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原論文數字(Qwen3-0.6B,TinyAgent 資料集)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10312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2212848"/>
            <a:ext cx="24231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65.1 vs 25.6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函式選擇正確率
(DTDR-L vs 靜態檢索器)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10312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212848"/>
            <a:ext cx="24231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0.93 vs 0.53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檢索排名 MRR
(越高越好)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52044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3630168"/>
            <a:ext cx="24231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+23%~104%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端到端成功率
(相對最強靜態基線)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352044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630168"/>
            <a:ext cx="24231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−73%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總提示長度
(用檢索結果遮掉其餘工具)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98348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9 步長計畫的 Top-1 檢索:DTDR-L 仍有 85.1%,只看查詢的靜態版掉到 12.9%。</a:t>
            </a:r>
          </a:p>
          <a:p>
            <a:pPr algn="l"/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結論:多步任務裡「歷史」是比查詢更強的下一步線索。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出處:DTDR (arXiv:2512.17052)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流派 C|圖與依賴結構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工具不是孤島:A 的輸出常是 B 的輸入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394960" cy="2743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099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工具依賴圖(從歷史軌跡統計而來)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860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開檔案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2860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2286000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摘要PDF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2860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10058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寄信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29184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39" y="3291840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查Email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286000" y="2432304"/>
            <a:ext cx="457200" cy="256032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4206240" y="2432304"/>
            <a:ext cx="365760" cy="256032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20040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↗ 也能接寄信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31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檢索時:只考慮「目前節點的後繼」或把依賴揉進向量。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00200"/>
            <a:ext cx="5394960" cy="14173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1600200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1801368"/>
            <a:ext cx="506577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ToolNet(arXiv 2024)— 在圖上走格子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軌跡統計出有向加權圖;LLM 每步只看後繼節點。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工具規模拉到數千級,token 只適度增加;弱點:只看上一步、不看查詢。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00400"/>
            <a:ext cx="5394960" cy="14173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3200400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401568"/>
            <a:ext cx="506577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Tool Graph Retriever(arXiv 2025)— 依賴揉進向量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自建 TDI300K 訓「依賴判別器」→ 建圖 → 圖卷積強化工具向量。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大幅提升各現成向量模型;疊在 ToolBench-IR 上再創 SOTA;圖越密增益越大。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72000"/>
            <a:ext cx="11155680" cy="14173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36592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為什麼值得做?TaskBench(NeurIPS 2024 D&amp;B)量化過:讓 LLM 畫「工具呼叫圖」時,連邊(誰接誰)比選點(用哪些)難約 30% F1。</a:t>
            </a:r>
          </a:p>
          <a:p>
            <a:pPr algn="l"/>
            <a:r>
              <a:rPr sz="13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→ 依賴關係正是現在模型最弱、檢索器最能幫忙的地方。DTDR-C(前頁)的「分群+馬可夫圖」也屬此路線。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出處:ToolNet (arXiv:2403.00839)、TGR (arXiv:2508.05152)、TaskBench (arXiv:2311.18760)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流派 D|生成式檢索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不外掛檢索器:把每個工具變成 LLM 的「新單字」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394960" cy="26517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099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LLM 詞表(vocabulary)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868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「天」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2194560"/>
            <a:ext cx="868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19456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「氣」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194560"/>
            <a:ext cx="868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19456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「查」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2194560"/>
            <a:ext cx="868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19456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80360"/>
            <a:ext cx="1920240" cy="5029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8036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&lt;tool_天氣API&gt;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880360"/>
            <a:ext cx="1920240" cy="5029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88036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&lt;tool_寄信&gt;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2044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「檢索」= 模型直接生成工具詞元,像說出下一個字;</a:t>
            </a:r>
          </a:p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工具知識存在參數裡,不佔提示視窗。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00200"/>
            <a:ext cx="5394960" cy="13716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1600200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1801368"/>
            <a:ext cx="50657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ToolkenGPT(NeurIPS 2023 Oral)— 只學嵌入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LLM 本體凍結,每個工具只訓練一個「toolken」嵌入。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數學/問答/具身規劃上勝過 few-shot 與 ReAct 基線;新工具隨插隨學。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154680"/>
            <a:ext cx="5394960" cy="173736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3154680"/>
            <a:ext cx="5394960" cy="822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3355848"/>
            <a:ext cx="5065776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ToolGen(ICLR 2025)— 47k 工具全進詞表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三階段:工具記憶 → 檢索訓練 → 代理微調。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檢索 NDCG 全面超越訓練雙塔 ToolRetriever,部分超過帶 GPT-3.5 迭代回饋的管線;47k 工具全量檢索仍穩健。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trade-off:工具上下架要動模型(與 MCP 動態生態緊張)。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26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端側極致版:Octopus v2(arXiv 2024,2B 模型)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937760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047488"/>
            <a:ext cx="2377439" cy="923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99.52%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函式呼叫準確率
(超過 GPT-4 同場景)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4937760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5047488"/>
            <a:ext cx="2377439" cy="923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0.38 秒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單次呼叫延遲
(手機可跑)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02920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並把上下文長度砍 95%、比「7B+RAG 檢索呼叫」快約 35 倍 —— 工具固定的場景,生成式是延遲之王。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出處:ToolkenGPT (arXiv:2305.11554)、ToolGen (arXiv:2410.03439)、Octopus v2 (arXiv:2404.01744)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流派 E|微調呼叫端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檢索不會完美 —— 把「會用檢索結果」練進模型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440680" cy="21488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01368"/>
            <a:ext cx="5111496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Gorilla(NeurIPS 2024)— 檢索感知訓練 RAT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微調時就把「檢索到的 API 文件」放進輸入,教模型「照文件寫呼叫」而不是硬背。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APIBench 上以 AST 比對評測:Torch Hub / HuggingFace 上超過 GPT-4;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API 文件改版也能跟上、幻覺大幅下降 —— 檢索器與模型「共生」。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440680" cy="21488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801368"/>
            <a:ext cx="5111496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Hammer(ICLR 2025 Spotlight)— 函式遮罩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訓練時把函式/參數「名字換成亂碼」,逼模型只讀描述判斷 → 換一批工具也不崩。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再加 7,500 筆「其實沒有合適工具」的樣本,學會該拒就拒。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Hammer-7B 在 BFCL v2 與 GPT-4 / GPT-4o 級模型同場競技。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31920"/>
            <a:ext cx="5440680" cy="18288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93192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133087"/>
            <a:ext cx="5111496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ToolACE(ICLR 2025)— 用合成資料灌能力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自演化合成 26,507 個 API + 多代理互演對話 + 雙層驗證。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8B 小模型在 BFCL-v3 打到與 GPT-4 系相當。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931920"/>
            <a:ext cx="5440680" cy="18288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這一派跟「檢索」什麼關係?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檢索器負責「給候選」,呼叫端負責「在候選中選對/拒答」。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兩端共同設計,系統才穩 —— BFCL 甚至把「不該呼叫時不呼叫」列為一級評測項目。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出處:Gorilla (arXiv:2305.15334)、Hammer (arXiv:2410.04587)、ToolACE (arXiv:2409.00920)、BFCL (ICML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MCP 專區(1/2)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MCP 架構一分鐘看懂,以及它為什麼把檢索變更難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760720" cy="28346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Host / Agent
(Claude、IDE…)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3200" y="2331720"/>
            <a:ext cx="457200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201168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2011680"/>
            <a:ext cx="1143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MCP
Client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26280" y="2331720"/>
            <a:ext cx="457200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92040" y="1783080"/>
            <a:ext cx="1280160" cy="713232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59" y="1783080"/>
            <a:ext cx="11887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天氣 server
3 個工具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2624328"/>
            <a:ext cx="1280160" cy="713232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2624328"/>
            <a:ext cx="11887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GitHub server
30 個工具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465576"/>
            <a:ext cx="1280160" cy="713232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3465576"/>
            <a:ext cx="11887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資料庫 server
12 個工具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每個 server 自帶一組工具與 schema;</a:t>
            </a:r>
          </a:p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代理可同時掛很多 server。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27939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…社群已達數千個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6916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比傳統 API 檢索多三個難點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194560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286000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動態上下架</a:t>
            </a:r>
          </a:p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server 隨時安裝/更新/移除 → 訓練死的檢索器馬上過期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154680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246120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跨 server 路由</a:t>
            </a:r>
          </a:p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先挑對 server、再挑裡面的工具(兩層決策)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114800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206240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Schema 異質 + 規模</a:t>
            </a:r>
          </a:p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描述品質參差;千級工具讓單層向量索引開始退化(RAG-MCP 自承)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9204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現況檢查(MCP-Universe,Salesforce 2025;231 個真實 server 任務):GPT-5 成功率 43.72%、Grok-4 33.33%、Claude-4-Sonnet 29.44%。</a:t>
            </a:r>
          </a:p>
          <a:p>
            <a:pPr algn="l"/>
            <a:r>
              <a:rPr sz="13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→ 最強模型也 fail 過半;長上下文與「陌生工具」是兩大主因 —— 檢索/選擇仍是核心瓶頸。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出處:MCP-Universe (arXiv:2508.14704)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MCP 專區(2/2)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三種 MCP 工具檢索方案(都免訓練,2025)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611880" cy="45720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9344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先檢索再給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RAG-MCP(arXiv:2505.03275)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所有 MCP 工具 schema 建向量索引;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查詢先撈最相關幾個,只把它們給 LLM。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40480"/>
            <a:ext cx="3246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50208"/>
            <a:ext cx="306323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43.13%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選對率(vs 全塞 13.62%)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54880"/>
            <a:ext cx="3246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64608"/>
            <a:ext cx="306323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−50%+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提示 tokens(1,084 vs 2,134)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8756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弱點:千級工具時檢索精度與吞吐退化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3611880" cy="45720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554480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609344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模型主動開口要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4028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MCP-Zero(arXiv:2506.01056)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LLM 自己生成「我需要能做 X 的工具」請求;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兩層語意路由:先配 server、再配工具;邊做邊要、逐步組工具鏈。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840480"/>
            <a:ext cx="3246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06323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−98%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token 消耗(APIBank)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754880"/>
            <a:ext cx="3246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864608"/>
            <a:ext cx="306323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~3k 工具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248.1k tokens 描述中準確選中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68756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附帶發布 MCP-tools 資料集(308 server / 2,797 工具)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554480"/>
            <a:ext cx="3611880" cy="45720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92440" y="1554480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609344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檢索本身也是工具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24028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ScaleMCP(arXiv:2505.06416)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給代理一個「MCP 檢索工具」,自主呼叫並把結果加進記憶;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索引與 server 用 CRUD 自動同步;TDWA 加權嵌入。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840480"/>
            <a:ext cx="3246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950208"/>
            <a:ext cx="306323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5,000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自建金融 MCP server 測試集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754880"/>
            <a:ext cx="3246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864608"/>
            <a:ext cx="306323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10×5×5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LLM×嵌入×檢索器 全面提升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68756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重點:工具庫是「活的」,索引要持續同步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新戰線 G|activation 注入(1/2)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第三層注入:模型其實「早就知道」,只是沒「說出口」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937760" cy="32918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把「工具知識」放進模型的三個入口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44805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權重層(D/E 類)</a:t>
            </a:r>
          </a:p>
          <a:p>
            <a:pPr algn="l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微調 / 加詞元 —— 要訓練、要資料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44805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18104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prompt 層(A/F 類)</a:t>
            </a:r>
          </a:p>
          <a:p>
            <a:pPr algn="l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把清單 / 文件 / 檢索結果塞進字面 —— 佔 context、稀釋注意力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41064"/>
            <a:ext cx="44805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14216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③ activation 層(G 類,新)</a:t>
            </a:r>
          </a:p>
          <a:p>
            <a:pPr algn="l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直接在前向傳播的隱狀態上加一根向量 —— 零訓練、零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572768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為什麼敢這樣做?四篇獨立研究「讀腦」得到同一結論(皆 2026 preprint)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057400"/>
            <a:ext cx="5989320" cy="658368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2112264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ASA:probe 讀中層激活判「要不要工具」AUC 0.999,行為 F1 卻只有 0.18 —— 知道,但不出手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807208"/>
            <a:ext cx="5989320" cy="658368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2862072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KnowWhen:last-token probe AUROC 0.89–0.96,比模型自己用文字推理判斷還準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3557015"/>
            <a:ext cx="5989320" cy="658368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3611879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KDGap:「知道要用」vs「真的去叫」不一致率 26.5–54%;兩個方向在決策點幾乎垂直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4306824"/>
            <a:ext cx="5989320" cy="658368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4361688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Looking:選錯工具的失敗案例中,注意力其實 80% 已聚焦在正確工具上(隨機 21%)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93792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共同結論:「該用哪個工具」的訊號早就在模型腦內(probe / attention 都讀得到),卡在「表達成行為」那一步。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所以第三層的解法是:不重訓能力、不塞字面 —— 直接在腦內把那個狀態「推」出來。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出處:ASA (arXiv:2602.04935)、KnowWhen (2605.09252)、KDGap (2605.14038)、Looking (2606.16364)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新戰線 G|activation 注入(2/2)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代表方法與戰績(全部免訓練、KB 級資產)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440680" cy="219456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64208"/>
            <a:ext cx="5111496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ASA —— 給模型裝「出手開關」(arXiv 2026/02)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做法:「要工具的題」和「不用的題」各取中層激活、平均相減 = 一根方向;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小 probe 判信心:夠高 → h += α·v 推它出手;反向注入壓誤觸;不確定就不動。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戰績:Qwen2.5-1.5B strict F1 0.18→0.50、誤觸率 0.146→0.052 —— 與 LoRA 相當但免訓練(~20KB)。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40680" cy="219456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64208"/>
            <a:ext cx="5111496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KnowWhen —— probe 讀心 + 幫它起筆(arXiv 2026/05)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做法:last-token 隱狀態訓線性 probe(AUROC 0.89–0.96);判「不用工具」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就把回覆開頭先填上「I can solve this directly without using a tool.」讓模型接著寫。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戰績:省 48% 工具呼叫、準確率只 −1.7%;最佳 prompt baseline 同準確率下只能省 6%。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0"/>
            <a:ext cx="5440680" cy="219456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041648"/>
            <a:ext cx="5111496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Looking —— 看到 ≠ 選到:修「讀出」不修 prompt(arXiv 2026/06)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做法:把 prompt 按工具定義切段、量注意力;介入加在 attention logits 或殘差流上。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戰績:內部介入救回 59–91% 的選錯案例;改 prompt(重排/複製正確工具)只救 ≤23%;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免答案實用版(讀模型自己的注意力當選擇器)BFCL +11.9 pts、Seal-Tools +14.9 pts。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440680" cy="219456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440680" cy="822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041648"/>
            <a:ext cx="5111496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KDGap —— 純診斷,但給了設計準則(arXiv 2026/05)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做法:同一題無工具跑 10 次定義「這個模型需不需要工具」,再對照實際行為;雙 probe 解剖。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發現:「認為需要」和「真的去叫」是兩個幾乎垂直的方向;多數失敗在認知→行動的轉換。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啟示:注入要瞄「行動」方向,或把「知識歸向量、決策歸模型」分工 —— 別只放大知識。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與 A 類同樣免訓練,但注入點從「字面」下探到「腦內」;皆為 preprint、多在單步觸發/選擇場景 —— 多步規劃上的 activation 注入仍是開放地帶。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數字皆原論文;ASA 表格數字部分轉引自第三方重現(官方未開源)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Benchmark(1/2)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通用工具檢索 / 工具使用的「考卷」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6537960"/>
              </a:tblGrid>
              <a:tr h="42394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Benchmark</a:t>
                      </a:r>
                    </a:p>
                  </a:txBody>
                  <a:tcPr marL="73152" marR="45720" marT="18288" marB="18288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Venue</a:t>
                      </a:r>
                    </a:p>
                  </a:txBody>
                  <a:tcPr marL="73152" marR="45720" marT="18288" marB="18288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一句話:它考什麼 / 關鍵發現</a:t>
                      </a:r>
                    </a:p>
                  </a:txBody>
                  <a:tcPr marL="73152" marR="45720" marT="18288" marB="18288">
                    <a:solidFill>
                      <a:srgbClr val="172A4A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ToolBench / ToolEval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ICLR 2024 (Spotlight)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16,464 個真實 API;檢索 NDCG + 端到端通過率;多工具比單工具難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API-Bank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EMNLP 2023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73 API、753 呼叫;三層能力:直接呼叫 / 先檢索再呼叫 / 先規劃再檢索呼叫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ToolQA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NeurIPS 2023 (D&amp;B)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只看最終答案對不對 —— 把工具能力化約成可驗證的 QA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MetaTool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ICLR 2024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21,127 查詢;先考「該不該用工具」:零樣本覺察 F1 僅 ChatGPT &gt;70%,最低 11.53%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TaskBench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NeurIPS 2024 (D&amp;B)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畫「工具呼叫圖」:連邊(依賴)比選點(工具)難約 30% F1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StableToolBench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Findings of ACL 2024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虛擬 API server(快取+模擬)解決真實 API 掛掉造成的評測漂移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ToolRet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Findings of ACL 2025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第一個專測工具檢索:7.6k 任務/43k 工具;強 IR 模型也疲軟;附 200k 訓練集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BFCL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ICML 2025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業界事實標準;AST 驗證 + 該拒就拒(irrelevance);V1→V4 持續演進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τ-bench / τ²-bench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arXiv 2024/2025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模擬使用者多輪互動;pass^k:GPT-4o 級 &lt;50%,retail 連續 8 次全對 &lt;25%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Seal-Tools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NLPCC 2024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大規模 self-instruct 工具資料,含嵌套呼叫;檢索論文常用評測集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Benchmark(2/2)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MCP 專屬考卷(皆 2025,arXiv)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201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834640"/>
                <a:gridCol w="52578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Benchmark</a:t>
                      </a:r>
                    </a:p>
                  </a:txBody>
                  <a:tcPr marL="73152" marR="45720" marT="18288" marB="18288"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規模</a:t>
                      </a:r>
                    </a:p>
                  </a:txBody>
                  <a:tcPr marL="73152" marR="45720" marT="18288" marB="18288"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考什麼 / 關鍵數字</a:t>
                      </a:r>
                    </a:p>
                  </a:txBody>
                  <a:tcPr marL="73152" marR="45720" marT="18288" marB="18288">
                    <a:solidFill>
                      <a:srgbClr val="C2410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MCP-Universe(Salesforce)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 真實 server、6 域、231 任務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端到端真任務執行評分;GPT-5 43.72%、Grok-4 33.33%、Claude-4-Sonnet 29.44%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MCP-Bench(Accenture)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 個 live server、250 工具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模糊指令(不給工具名)下的檢索+多跳規劃+跨域編排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LiveMCPBench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70 server、527 工具、95 任務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工具海裡的日常任務;最佳 Claude-Sonnet-4 78.95%,模型間差異巨大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MCPToolBench++(Ant Group)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4,000+ server 池;1,500+ 查詢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單步與多跳;結構對了,參數不合/API 特異性仍常讓執行失敗</a:t>
                      </a:r>
                    </a:p>
                  </a:txBody>
                  <a:tcPr marL="73152" marR="45720" marT="18288" marB="18288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MCP-tools(MCP-Zero 附帶)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308 server、2,797 工具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 工具檢索語料庫(給檢索方法練/測)</a:t>
                      </a:r>
                    </a:p>
                  </a:txBody>
                  <a:tcPr marL="73152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892040"/>
            <a:ext cx="3474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001768"/>
            <a:ext cx="3291839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43.72%</a:t>
            </a:r>
          </a:p>
          <a:p>
            <a:pPr algn="ctr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GPT-5 在 MCP-Universe 的成功率
(最強模型也 fail 過半)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983480"/>
            <a:ext cx="7406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共同訊息:MCP 時代的評測全面走向「真 server、真執行、端到端」;</a:t>
            </a:r>
          </a:p>
          <a:p>
            <a:pPr algn="l"/>
            <a:r>
              <a:rPr sz="13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而「找到對的工具」是所有這些 benchmark 裡反覆出現的失敗模式。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另有 MCPEval、MCP-RADAR、LiveMCP-101 等評測框架(2025 arXiv)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總結(1/2)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讀完 34 篇論文的六條主線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1201400" cy="713232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66928" cy="713232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669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17904"/>
            <a:ext cx="103327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會找文件 ≠ 會找工具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傳統 IR 強者到工具檢索普遍疲軟(ToolRet);「相關」=能把任務做完,需要工具特化訓練。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67712"/>
            <a:ext cx="11201400" cy="713232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267712"/>
            <a:ext cx="566928" cy="713232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67712"/>
            <a:ext cx="5669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22576"/>
            <a:ext cx="103327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省 token = 提準確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候選越少越乾淨:RAG-MCP 13.62%→43.13%;EasyTool −70%、DTDR −73% 提示長度。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72384"/>
            <a:ext cx="11201400" cy="713232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072384"/>
            <a:ext cx="566928" cy="71323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72384"/>
            <a:ext cx="5669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127248"/>
            <a:ext cx="103327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訊號一路升級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語意相似 → 湊齊一套(COLT)→ 工具依賴(TGR/ToolNet)→ 呼叫歷史(DTDR)。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77056"/>
            <a:ext cx="11201400" cy="713232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877056"/>
            <a:ext cx="566928" cy="713232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77056"/>
            <a:ext cx="5669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31920"/>
            <a:ext cx="103327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生成式正面挑戰外掛檢索器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工具=詞元:ToolGen 47k 工具贏過訓練雙塔;Octopus 端側 99.5%/0.38s。代價:工具變動要動模型。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681728"/>
            <a:ext cx="11201400" cy="713232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681728"/>
            <a:ext cx="566928" cy="713232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81728"/>
            <a:ext cx="5669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736592"/>
            <a:ext cx="103327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檢索器與呼叫端要一起設計;MCP 把一切放大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Gorilla 訓練時就餵檢索文件、Hammer 學會拒答;MCP 催生主動請求(MCP-Zero)與自動同步(ScaleMCP)。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86400"/>
            <a:ext cx="11201400" cy="713232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5486400"/>
            <a:ext cx="566928" cy="713232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86400"/>
            <a:ext cx="5669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541264"/>
            <a:ext cx="103327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新戰線:模型「知道」但「不做」—— 直接改腦內狀態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四篇 2026 preprint 用 probe/attention 證明工具訊號已在激活裡(AUC 0.999),免訓練注入/起筆即可矯正 —— prompt 之下的第三層正在成形。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總結(2/2)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所以我該用哪一派?(情境速查)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206240"/>
                <a:gridCol w="3703320"/>
              </a:tblGrid>
              <a:tr h="4978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你的情境</a:t>
                      </a:r>
                    </a:p>
                  </a:txBody>
                  <a:tcPr marL="73152" marR="45720" marT="27432" marB="27432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</a:t>
                      </a:r>
                    </a:p>
                  </a:txBody>
                  <a:tcPr marL="73152" marR="45720" marT="27432" marB="27432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為什麼</a:t>
                      </a:r>
                    </a:p>
                  </a:txBody>
                  <a:tcPr marL="73152" marR="45720" marT="27432" marB="27432">
                    <a:solidFill>
                      <a:srgbClr val="172A4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 &lt;50、想快速上線、沒標註資料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現成向量 + Re-Invoke 式改寫 / EasyTool 清洗文件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零訓練;nDCG 相對 +20~39% 唾手可得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有示範軌跡、追求準確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訓雙塔(ToolLLM 式)或用 ToolRet-train 補課;多工具任務加 COLT 完整性思路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訓練檢索器仍是性價比之王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多步代理任務(工具會連著用)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歷史感知檢索(DTDR)+ 依賴圖(TGR/ToolNet)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「已呼叫什麼」是下一步最強訊號;成功率 +23~104%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端側 / 私有部署、資源受限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TinyAgent 分類器、Hammer 遮罩微調、Octopus 詞元化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小模型即可達 GPT-4 級函式呼叫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工具固定、要極致延遲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生成式(ToolGen / functional tokens)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免外掛檢索、上下文最省、0.38s/呼叫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 生態、工具動態增減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RAG-MCP 起步 → 規模大改 MCP-Zero / ScaleMCP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免重訓、索引隨 server 自動演化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怕模型亂呼叫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訓練加無關性樣本(Hammer);評測掛 BFCL irrelevance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「該拒就拒」是一級能力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模型明明會、卻不出手(或亂出手)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activation 層:ASA 向量開關 / KnowWhen probe+起筆(G)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免訓練 KB 級資產;F1 0.18→0.50、省 48% 呼叫</a:t>
                      </a:r>
                    </a:p>
                  </a:txBody>
                  <a:tcPr marL="73152" marR="45720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參考文獻(1/2)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2014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【三大 ML 會議】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[1] Qin, Y., et al. ToolLLM: Facilitating Large Language Models to Master 16000+ Real-world APIs. In ICLR 2024 (Spotlight).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[2] Schick, T., et al. Toolformer: Language Models Can Teach Themselves to Use Tools. In NeurIPS 2023.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[3] Hao, S., Liu, T., Wang, Z., Hu, Z. ToolkenGPT: Augmenting Frozen Language Models with Massive Tools via Tool Embeddings. In NeurIPS 2023 (Oral).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[4] Patil, S. G., Zhang, T., Wang, X., Gonzalez, J. E. Gorilla: Large Language Model Connected with Massive APIs. In NeurIPS 2024.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[5] Wang, R., et al. ToolGen: Unified Tool Retrieval and Calling via Generation. In ICLR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[6] Du, Y., Wei, F., Zhang, H. AnyTool: Self-Reflective, Hierarchical Agents for Large-Scale API Calls. In ICML 2024.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[7] Lin, Q., et al. Hammer: Robust Function-Calling for On-Device Language Models via Function Masking. In ICLR 2025 (Spotlight).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[8] Liu, W., et al. ToolACE: Winning the Points of LLM Function Calling. In ICLR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[9] Patil, S. G., et al. The Berkeley Function Calling Leaderboard (BFCL): From Tool Use to Agentic Evaluation of LLMs. In ICML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[10] Huang, Y., et al. MetaTool Benchmark for Large Language Models: Deciding Whether to Use Tools and Which to Use. In ICLR 2024.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[11] Shen, Y., et al. TaskBench: Benchmarking Large Language Models for Task Automation. In NeurIPS 2024 (Datasets &amp; Benchmarks).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[12] Zhuang, Y., et al. ToolQA: A Dataset for LLM Question Answering with External Tools. In NeurIPS 2023 (Datasets &amp; Benchmarks).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【ACL 系與其他一級會議】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[13] Qu, C., et al. Towards Completeness-Oriented Tool Retrieval for Large Language Models (COLT). In CIKM 2024.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[14] Chen, Y., et al. Re-Invoke: Tool Invocation Rewriting for Zero-Shot Tool Retrieval. In Findings of EMNLP 2024.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[15] Zheng, Y., et al. ToolRerank: Adaptive and Hierarchy-Aware Reranking for Tool Retrieval. In LREC-COLING 2024.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[16] Erdogan, L. E., et al. TinyAgent: Function Calling at the Edge. In EMNLP 2024 (System Demonstrations).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參考文獻(2/2)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98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2014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[17] Yuan, S., et al. EasyTool: Enhancing LLM-based Agents with Concise Tool Instruction. In NAACL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[18] Shi, Z., et al. Retrieval Models Aren't Tool-Savvy: Benchmarking Tool Retrieval for LLMs (ToolRet). In Findings of ACL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[19] Li, M., et al. API-Bank: A Comprehensive Benchmark for Tool-Augmented LLMs. In EMNLP 2023.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[20] Guo, Z., et al. StableToolBench: Towards Stable Large-Scale Benchmarking on Tool Learning of LLMs. In Findings of ACL 2024.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[21] Wu, M., et al. Seal-Tools: Self-Instruct Tool Learning Dataset for Agent Tuning and Detailed Benchmark. In NLPCC 2024.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[22] Paramanayakam, V., et al. Less is More: Optimizing Function Calling for LLM Execution on Edge Devices. In DATE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[23] Lumer, E., et al. Toolshed: Scale Tool-Equipped Agents with Advanced RAG-Tool Fusion and Tool Knowledge Bases. In ICAART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[24] Liu, X., et al. ControlLLM: Augment Language Models with Tools by Searching on Graphs. In ECCV 2024.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【arXiv(尚未見會議版)】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[25] Liu, X., et al. ToolNet: Connecting Large Language Models with Massive Tools via Tool Graph. arXiv:2403.00839, 2024.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[26] Gao, L., et al. Tool Graph Retriever: Exploring Dependency Graph-based Tool Retrieval for LLMs. arXiv:2508.05152,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[27] Patel, B., Belli, D., et al. Dynamic Tool Dependency Retrieval for Lightweight Function Calling. arXiv:2512.17052,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[28] Chen, W., Li, Z. Octopus v2: On-device Language Model for Super Agent. arXiv:2404.01744, 2024.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[29] Yao, S., et al. τ-bench: A Benchmark for Tool-Agent-User Interaction in Real-World Domains. arXiv:2406.12045, 2024.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[30] Gan, T., Sun, Q. RAG-MCP: Mitigating Prompt Bloat in LLM Tool Selection via RAG. arXiv:2505.03275,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[31] Fei, X., et al. MCP-Zero: Active Tool Discovery for Autonomous LLM Agents. arXiv:2506.01056,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[32] Lumer, E., et al. ScaleMCP: Dynamic and Auto-Synchronizing Model Context Protocol Tools for LLM Agents. arXiv:2505.06416,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[33] Luo, Z., et al. MCP-Universe: Benchmarking LLMs with Real-World Model Context Protocol Servers. arXiv:2508.14704,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[34] Wang, Z., et al. MCP-Bench: Benchmarking Tool-Using LLM Agents with Complex Real-World Tasks via MCP Servers. arXiv:2508.20453,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[35] Mo, G., et al. LiveMCPBench: Can Agents Navigate an Ocean of MCP Tools? arXiv:2508.01780, 2025.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[36] Fan, S., Ding, X., Zhang, L., Mo, L. MCPToolBench++: A Large Scale AI Agent MCP Tool Use Benchmark. arXiv:2508.07575, 2025.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【G 類:activation 注入(皆 2026 arXiv 預印本)】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[37] ASA: Training-Free Representation Engineering for Tool-Calling Agents. arXiv:2602.04935, 2026.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[38] Sun, C.-E., Liu, L., Yan, G., Wang, Z., Weng, T.-W. LLM Agents Already Know When to Call Tools — Even Without Reasoning. arXiv:2605.09252, 2026.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[39] Cheng, Y., Fan, C., JafariRaviz, M., Rezaei, K., Feizi, S. Model-Adaptive Tool Necessity Reveals the Knowing-Doing Gap in LLM Tool Use. arXiv:2605.14038, 2026.</a:t>
            </a:r>
          </a:p>
          <a:p>
            <a:pPr algn="l">
              <a:spcAft>
                <a:spcPts val="25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[40] Chen, S. Looking Is Not Picking: An Attention-Segment Account of Tool-Selection Failures in LLM Agents. arXiv:2606.16364,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