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2331720"/>
          </a:xfrm>
          <a:prstGeom prst="roundRect">
            <a:avLst>
              <a:gd name="adj" fmla="val 10000"/>
            </a:avLst>
          </a:prstGeom>
          <a:solidFill>
            <a:srgbClr val="17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0" y="2331720"/>
            <a:ext cx="12191695" cy="64008"/>
          </a:xfrm>
          <a:prstGeom prst="roundRect">
            <a:avLst>
              <a:gd name="adj" fmla="val 1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6984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3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LLM / MCP 工具檢索:方法與 Benchmark 總覽</a:t>
            </a:r>
          </a:p>
          <a:p>
            <a:pPr algn="l"/>
            <a:r>
              <a:rPr sz="1500" b="0">
                <a:solidFill>
                  <a:srgbClr val="BFDBFE"/>
                </a:solidFill>
                <a:latin typeface="Microsoft JhengHei"/>
                <a:ea typeface="Microsoft JhengHei"/>
                <a:cs typeface="Microsoft JhengHei"/>
              </a:rPr>
              <a:t>Tool Retrieval for LLM Agents &amp; Model Context Protocol — 給初學者的入門地圖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106984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這份簡報回答四個問題: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1. 為什麼 AI 助理需要「先挑工具、再動手」?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2. 現有方法分成哪幾派?各自怎麼「訓練」或變強?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3. 每一派實際有多強?(全部使用原論文數字)</a:t>
            </a:r>
          </a:p>
          <a:p>
            <a:pPr algn="l"/>
            <a:r>
              <a:rPr sz="150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4. 有哪些考卷(benchmark)可以拿來比?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806440"/>
            <a:ext cx="10698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涵蓋 2023–2025 約 30 篇經逐篇查證的論文|出處優先級:ICLR/ICML/NeurIPS → ACL/EMNLP/CIKM 等 → arXiv|完整引用見文末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背景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LLM 不只會聊天:它可以「呼叫工具」做事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21207" y="1298448"/>
            <a:ext cx="1051560" cy="4114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5852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使用者說「幫我查明天台北天氣再寄給小王」,LLM 不自己瞎編,</a:t>
            </a:r>
          </a:p>
          <a:p>
            <a:pPr algn="l"/>
            <a:r>
              <a:rPr sz="135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而是挑出對的工具(查天氣、寄郵件)、填好參數、依序呼叫 —— 這叫「函式呼叫(function calling)」。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880360"/>
            <a:ext cx="2103120" cy="914400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880360"/>
            <a:ext cx="201167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Microsoft JhengHei"/>
                <a:ea typeface="Microsoft JhengHei"/>
                <a:cs typeface="Microsoft JhengHei"/>
              </a:rPr>
              <a:t>LLM(大腦)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971800" y="3200400"/>
            <a:ext cx="548640" cy="310896"/>
          </a:xfrm>
          <a:prstGeom prst="rightArrow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703320" y="2121408"/>
            <a:ext cx="2103120" cy="457200"/>
          </a:xfrm>
          <a:prstGeom prst="roundRect">
            <a:avLst>
              <a:gd name="adj" fmla="val 10000"/>
            </a:avLst>
          </a:prstGeom>
          <a:solidFill>
            <a:srgbClr val="F3F4F6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49039" y="2121408"/>
            <a:ext cx="201167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查天氣 API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03320" y="2688336"/>
            <a:ext cx="2103120" cy="457200"/>
          </a:xfrm>
          <a:prstGeom prst="roundRect">
            <a:avLst>
              <a:gd name="adj" fmla="val 10000"/>
            </a:avLst>
          </a:prstGeom>
          <a:solidFill>
            <a:srgbClr val="F3F4F6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49039" y="2688336"/>
            <a:ext cx="201167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寄 Email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03320" y="3255263"/>
            <a:ext cx="2103120" cy="457200"/>
          </a:xfrm>
          <a:prstGeom prst="roundRect">
            <a:avLst>
              <a:gd name="adj" fmla="val 10000"/>
            </a:avLst>
          </a:prstGeom>
          <a:solidFill>
            <a:srgbClr val="F3F4F6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49039" y="3255263"/>
            <a:ext cx="201167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行事曆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03320" y="3822191"/>
            <a:ext cx="2103120" cy="457200"/>
          </a:xfrm>
          <a:prstGeom prst="roundRect">
            <a:avLst>
              <a:gd name="adj" fmla="val 10000"/>
            </a:avLst>
          </a:prstGeom>
          <a:solidFill>
            <a:srgbClr val="F3F4F6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49039" y="3822191"/>
            <a:ext cx="201167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查資料庫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03320" y="4389120"/>
            <a:ext cx="2103120" cy="457200"/>
          </a:xfrm>
          <a:prstGeom prst="roundRect">
            <a:avLst>
              <a:gd name="adj" fmla="val 10000"/>
            </a:avLst>
          </a:prstGeom>
          <a:solidFill>
            <a:srgbClr val="F3F4F6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49039" y="4389120"/>
            <a:ext cx="201167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…上千個工具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920240"/>
            <a:ext cx="5257800" cy="3977639"/>
          </a:xfrm>
          <a:prstGeom prst="roundRect">
            <a:avLst>
              <a:gd name="adj" fmla="val 10000"/>
            </a:avLst>
          </a:prstGeom>
          <a:solidFill>
            <a:srgbClr val="FFED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0" y="2148840"/>
            <a:ext cx="475488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C2410C"/>
                </a:solidFill>
                <a:latin typeface="Microsoft JhengHei"/>
                <a:ea typeface="Microsoft JhengHei"/>
                <a:cs typeface="Microsoft JhengHei"/>
              </a:rPr>
              <a:t>MCP(Model Context Protocol)是什麼?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把「工具怎麼接、怎麼描述、怎麼呼叫」統一成標準協定 —— 像 USB-C: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• 工具商把功能包成「MCP server」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• 任何 AI 助理插上就能用,不用逐家客製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• 代價:生態爆炸 —— 官方社群已有數千個 server / 工具</a:t>
            </a:r>
          </a:p>
          <a:p>
            <a:pPr algn="l"/>
            <a:r>
              <a:rPr sz="1350" b="1">
                <a:solidFill>
                  <a:srgbClr val="C2410C"/>
                </a:solidFill>
                <a:latin typeface="Microsoft JhengHei"/>
                <a:ea typeface="Microsoft JhengHei"/>
                <a:cs typeface="Microsoft JhengHei"/>
              </a:rPr>
              <a:t>工具越多,「挑對工具」就越難 → 這就是本簡報的主題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03504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類比:一位助理(LLM)+ 一整面牆的工具箱(API / MCP servers)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73952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92840" y="6473952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C2410C"/>
                </a:solidFill>
                <a:latin typeface="Microsoft JhengHei"/>
                <a:ea typeface="Microsoft JhengHei"/>
                <a:cs typeface="Microsoft JhengHei"/>
              </a:rPr>
              <a:t>問題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工具一多,兩件事會壞掉:塞不下、選不準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21207" y="1298448"/>
            <a:ext cx="1051560" cy="41148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600200"/>
            <a:ext cx="5394960" cy="4114800"/>
          </a:xfrm>
          <a:prstGeom prst="roundRect">
            <a:avLst>
              <a:gd name="adj" fmla="val 10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783080"/>
            <a:ext cx="4937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做法一:把所有工具說明全塞進提示(prompt)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331720"/>
            <a:ext cx="2926080" cy="3108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468880"/>
            <a:ext cx="265176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提示視窗(有限)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工具1說明…工具2說明…工具3說明…工具4說明…工具5說明…工具6說明…工具7…</a:t>
            </a:r>
          </a:p>
          <a:p>
            <a:pPr algn="l"/>
            <a:r>
              <a:rPr sz="1100" b="1">
                <a:solidFill>
                  <a:srgbClr val="C2410C"/>
                </a:solidFill>
                <a:latin typeface="Microsoft JhengHei"/>
                <a:ea typeface="Microsoft JhengHei"/>
                <a:cs typeface="Microsoft JhengHei"/>
              </a:rPr>
              <a:t>(…還有 990 個塞不下)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2651760"/>
            <a:ext cx="18288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→ 又貴又慢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→ 超出視窗</a:t>
            </a:r>
          </a:p>
          <a:p>
            <a:pPr algn="l"/>
            <a:r>
              <a:rPr sz="1300" b="1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→ 無關工具會「帶偏」模型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1691640"/>
            <a:ext cx="5394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原論文實測(RAG-MCP 壓力測試,arXiv 2025)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2240280"/>
            <a:ext cx="2606040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79" y="2350008"/>
            <a:ext cx="2423160" cy="11978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C2410C"/>
                </a:solidFill>
                <a:latin typeface="Microsoft JhengHei"/>
                <a:ea typeface="Microsoft JhengHei"/>
                <a:cs typeface="Microsoft JhengHei"/>
              </a:rPr>
              <a:t>13.62%</a:t>
            </a:r>
          </a:p>
          <a:p>
            <a:pPr algn="ctr"/>
            <a:r>
              <a:rPr sz="115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全部塞進去時
選對工具的比率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52560" y="2240280"/>
            <a:ext cx="2606040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0" y="2350008"/>
            <a:ext cx="2423160" cy="11978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C2410C"/>
                </a:solidFill>
                <a:latin typeface="Microsoft JhengHei"/>
                <a:ea typeface="Microsoft JhengHei"/>
                <a:cs typeface="Microsoft JhengHei"/>
              </a:rPr>
              <a:t>2,134</a:t>
            </a:r>
          </a:p>
          <a:p>
            <a:pPr algn="ctr"/>
            <a:r>
              <a:rPr sz="115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平均提示 tokens
(全塞基線)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3886200"/>
            <a:ext cx="5394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→ 工具數量放大後,「全塞」幾乎等於亂猜。</a:t>
            </a:r>
          </a:p>
          <a:p>
            <a:pPr algn="l"/>
            <a:r>
              <a:rPr sz="120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MCP-Universe(Salesforce)同時顯示:「陌生工具」是頂尖模型失敗兩大主因之一。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4892040"/>
            <a:ext cx="5394960" cy="868680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5029200"/>
            <a:ext cx="5029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2563EB"/>
                </a:solidFill>
                <a:latin typeface="Microsoft JhengHei"/>
                <a:ea typeface="Microsoft JhengHei"/>
                <a:cs typeface="Microsoft JhengHei"/>
              </a:rPr>
              <a:t>結論:需要一個「先幫 LLM 挑工具」的前置模組 —— 工具檢索器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73952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數字出處:RAG-MCP (arXiv:2505.03275);MCP-Universe (arXiv:2508.14704)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92840" y="6473952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解法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工具檢索:先從工具庫「撈出幾個候選」,再讓 LLM 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21207" y="1298448"/>
            <a:ext cx="1051560" cy="4114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286000"/>
            <a:ext cx="1828800" cy="1005840"/>
          </a:xfrm>
          <a:prstGeom prst="roundRect">
            <a:avLst>
              <a:gd name="adj" fmla="val 10000"/>
            </a:avLst>
          </a:prstGeom>
          <a:solidFill>
            <a:srgbClr val="F3F4F6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2286000"/>
            <a:ext cx="173736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使用者查詢
「查天氣寄給小王」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468880" y="2633472"/>
            <a:ext cx="457200" cy="310896"/>
          </a:xfrm>
          <a:prstGeom prst="rightArrow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017520" y="2286000"/>
            <a:ext cx="2148840" cy="1005840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3239" y="2286000"/>
            <a:ext cx="20574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563EB"/>
                </a:solidFill>
                <a:latin typeface="Microsoft JhengHei"/>
                <a:ea typeface="Microsoft JhengHei"/>
                <a:cs typeface="Microsoft JhengHei"/>
              </a:rPr>
              <a:t>工具檢索器 ω
(本簡報主角)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257800" y="2633472"/>
            <a:ext cx="457200" cy="310896"/>
          </a:xfrm>
          <a:prstGeom prst="rightArrow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806440" y="2286000"/>
            <a:ext cx="1965960" cy="1005840"/>
          </a:xfrm>
          <a:prstGeom prst="roundRect">
            <a:avLst>
              <a:gd name="adj" fmla="val 10000"/>
            </a:avLst>
          </a:prstGeom>
          <a:solidFill>
            <a:srgbClr val="D5EFEE"/>
          </a:solidFill>
          <a:ln w="1270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159" y="2286000"/>
            <a:ext cx="1874519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E7C7B"/>
                </a:solidFill>
                <a:latin typeface="Microsoft JhengHei"/>
                <a:ea typeface="Microsoft JhengHei"/>
                <a:cs typeface="Microsoft JhengHei"/>
              </a:rPr>
              <a:t>少數候選工具
(例如 Top-5)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863840" y="2633472"/>
            <a:ext cx="457200" cy="310896"/>
          </a:xfrm>
          <a:prstGeom prst="rightArrow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412480" y="2286000"/>
            <a:ext cx="1737360" cy="1005840"/>
          </a:xfrm>
          <a:prstGeom prst="roundRect">
            <a:avLst>
              <a:gd name="adj" fmla="val 10000"/>
            </a:avLst>
          </a:prstGeom>
          <a:solidFill>
            <a:srgbClr val="D1FAE5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58200" y="2286000"/>
            <a:ext cx="1645919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59669"/>
                </a:solidFill>
                <a:latin typeface="Microsoft JhengHei"/>
                <a:ea typeface="Microsoft JhengHei"/>
                <a:cs typeface="Microsoft JhengHei"/>
              </a:rPr>
              <a:t>LLM 選函式
+ 填參數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10241280" y="2633472"/>
            <a:ext cx="457200" cy="310896"/>
          </a:xfrm>
          <a:prstGeom prst="rightArrow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744200" y="2286000"/>
            <a:ext cx="1051560" cy="1005840"/>
          </a:xfrm>
          <a:prstGeom prst="roundRect">
            <a:avLst>
              <a:gd name="adj" fmla="val 10000"/>
            </a:avLst>
          </a:prstGeom>
          <a:solidFill>
            <a:srgbClr val="F3F4F6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0" y="2286000"/>
            <a:ext cx="960119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執行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017520" y="4023360"/>
            <a:ext cx="2148840" cy="868680"/>
          </a:xfrm>
          <a:prstGeom prst="roundRect">
            <a:avLst>
              <a:gd name="adj" fmla="val 10000"/>
            </a:avLst>
          </a:prstGeom>
          <a:solidFill>
            <a:srgbClr val="F3F4F6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63239" y="4023360"/>
            <a:ext cx="2057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工具庫 F
數百~數千個描述</a:t>
            </a:r>
          </a:p>
        </p:txBody>
      </p:sp>
      <p:sp>
        <p:nvSpPr>
          <p:cNvPr id="21" name="Down Arrow 20"/>
          <p:cNvSpPr/>
          <p:nvPr/>
        </p:nvSpPr>
        <p:spPr>
          <a:xfrm>
            <a:off x="3977639" y="3429000"/>
            <a:ext cx="310896" cy="548640"/>
          </a:xfrm>
          <a:prstGeom prst="downArrow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0" y="4114800"/>
            <a:ext cx="5760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多步任務:每呼叫完一個工具,「已呼叫歷史」可以回饋給檢索器,幫下一步挑得更準(進階流派 B/C)。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212080"/>
            <a:ext cx="11201400" cy="960120"/>
          </a:xfrm>
          <a:prstGeom prst="roundRect">
            <a:avLst>
              <a:gd name="adj" fmla="val 10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5349240"/>
            <a:ext cx="10789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比喻:圖書館員(檢索器)先從百萬藏書挑 5 本給教授(LLM);教授只讀 5 本,又快又不會被雜書干擾。</a:t>
            </a:r>
          </a:p>
          <a:p>
            <a:pPr algn="l"/>
            <a:r>
              <a:rPr sz="1300" b="1">
                <a:solidFill>
                  <a:srgbClr val="2563EB"/>
                </a:solidFill>
                <a:latin typeface="Microsoft JhengHei"/>
                <a:ea typeface="Microsoft JhengHei"/>
                <a:cs typeface="Microsoft JhengHei"/>
              </a:rPr>
              <a:t>好處三合一:省 token(便宜快速)、不爆視窗、候選乾淨 → 選得準。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73952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92840" y="6473952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怎麼打分數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看懂論文數字前,先認識 4 個常用指標(白話版)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21207" y="1298448"/>
            <a:ext cx="1051560" cy="4114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600200"/>
            <a:ext cx="5394960" cy="2194560"/>
          </a:xfrm>
          <a:prstGeom prst="roundRect">
            <a:avLst>
              <a:gd name="adj" fmla="val 10000"/>
            </a:avLst>
          </a:prstGeom>
          <a:solidFill>
            <a:srgbClr val="D5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00200"/>
            <a:ext cx="5394960" cy="82296"/>
          </a:xfrm>
          <a:prstGeom prst="roundRect">
            <a:avLst>
              <a:gd name="adj" fmla="val 50000"/>
            </a:avLst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" y="1801368"/>
            <a:ext cx="5065776" cy="1865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1">
                <a:solidFill>
                  <a:srgbClr val="0E7C7B"/>
                </a:solidFill>
                <a:latin typeface="Microsoft JhengHei"/>
                <a:ea typeface="Microsoft JhengHei"/>
                <a:cs typeface="Microsoft JhengHei"/>
              </a:rPr>
              <a:t>Recall@K(召回率)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「前 K 名候選裡,有沒有把正確工具找齊?」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例:需要 2 個工具,Top-5 裡找到 2 個 → Recall=100%。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COLT 提出更嚴的 COMP@K:要「一次湊齊整套」才算對。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600200"/>
            <a:ext cx="5394960" cy="2194560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63640" y="1600200"/>
            <a:ext cx="5394960" cy="822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28231" y="1801368"/>
            <a:ext cx="5065776" cy="1865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1">
                <a:solidFill>
                  <a:srgbClr val="2563EB"/>
                </a:solidFill>
                <a:latin typeface="Microsoft JhengHei"/>
                <a:ea typeface="Microsoft JhengHei"/>
                <a:cs typeface="Microsoft JhengHei"/>
              </a:rPr>
              <a:t>NDCG@K(排名品質)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「對的工具排得夠不夠前面?」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排第 1 名得分最高、越後面折扣越多;0~1 之間,越高越好。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檢索論文最常用的主指標。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977639"/>
            <a:ext cx="5394960" cy="2194560"/>
          </a:xfrm>
          <a:prstGeom prst="roundRect">
            <a:avLst>
              <a:gd name="adj" fmla="val 10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02920" y="3977639"/>
            <a:ext cx="5394960" cy="822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" y="4178807"/>
            <a:ext cx="5065776" cy="1865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1">
                <a:solidFill>
                  <a:srgbClr val="059669"/>
                </a:solidFill>
                <a:latin typeface="Microsoft JhengHei"/>
                <a:ea typeface="Microsoft JhengHei"/>
                <a:cs typeface="Microsoft JhengHei"/>
              </a:rPr>
              <a:t>函式選擇正確率 / 成功率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「LLM 最後選的函式對不對?整個任務有沒有做完?」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端到端成功率最嚴:選錯一個函式或填錯一個參數,整題算失敗。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這才是使用者真正在乎的分數。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3977639"/>
            <a:ext cx="5394960" cy="2194560"/>
          </a:xfrm>
          <a:prstGeom prst="roundRect">
            <a:avLst>
              <a:gd name="adj" fmla="val 10000"/>
            </a:avLst>
          </a:prstGeom>
          <a:solidFill>
            <a:srgbClr val="FFED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77639"/>
            <a:ext cx="5394960" cy="82296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28231" y="4178807"/>
            <a:ext cx="5065776" cy="1865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1">
                <a:solidFill>
                  <a:srgbClr val="C2410C"/>
                </a:solidFill>
                <a:latin typeface="Microsoft JhengHei"/>
                <a:ea typeface="Microsoft JhengHei"/>
                <a:cs typeface="Microsoft JhengHei"/>
              </a:rPr>
              <a:t>pass^k(穩定性)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「同一題做 k 次,是不是每次都對?」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τ-bench 提出:GPT-4o 級代理單次 &lt;50%,零售域連續 8 次全對 &lt;25%。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衡量「靠不靠得住」,不是「有沒有巧合做對」。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pass^k 出處:τ-bench (arXiv:2406.12045)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92840" y="6473952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全景圖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五大流派 + MCP 專區:按「怎麼訓練 / 怎麼變強」分類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21207" y="1298448"/>
            <a:ext cx="1051560" cy="4114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554480"/>
            <a:ext cx="5394960" cy="1463040"/>
          </a:xfrm>
          <a:prstGeom prst="roundRect">
            <a:avLst>
              <a:gd name="adj" fmla="val 10000"/>
            </a:avLst>
          </a:prstGeom>
          <a:solidFill>
            <a:srgbClr val="D5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457200" cy="1463040"/>
          </a:xfrm>
          <a:prstGeom prst="roundRect">
            <a:avLst>
              <a:gd name="adj" fmla="val 10000"/>
            </a:avLst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36576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645920"/>
            <a:ext cx="466344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50" b="1">
                <a:solidFill>
                  <a:srgbClr val="0E7C7B"/>
                </a:solidFill>
                <a:latin typeface="Microsoft JhengHei"/>
                <a:ea typeface="Microsoft JhengHei"/>
                <a:cs typeface="Microsoft JhengHei"/>
              </a:rPr>
              <a:t>免訓練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不訓練任何模型。比對關鍵字/向量,或請 LLM 改寫查詢與工具說明、甚至讓 GPT-4 當檢索代理。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代表:BM25、Re-Invoke、EasyTool、Toolshed、AnyTool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554480"/>
            <a:ext cx="5394960" cy="1463040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63640" y="1554480"/>
            <a:ext cx="457200" cy="1463040"/>
          </a:xfrm>
          <a:prstGeom prst="roundRect">
            <a:avLst>
              <a:gd name="adj" fmla="val 1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59" y="1554480"/>
            <a:ext cx="36576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1645920"/>
            <a:ext cx="466344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50" b="1">
                <a:solidFill>
                  <a:srgbClr val="2563EB"/>
                </a:solidFill>
                <a:latin typeface="Microsoft JhengHei"/>
                <a:ea typeface="Microsoft JhengHei"/>
                <a:cs typeface="Microsoft JhengHei"/>
              </a:rPr>
              <a:t>訓練專用檢索器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用「查詢→正確工具」資料訓一個小模型(雙塔向量或分類器);進階版連「已呼叫歷史」一起看。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代表:ToolLLM 檢索器、COLT、ToolRet-train、TinyAgent、DTDR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154680"/>
            <a:ext cx="5394960" cy="1463040"/>
          </a:xfrm>
          <a:prstGeom prst="roundRect">
            <a:avLst>
              <a:gd name="adj" fmla="val 10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02920" y="3154680"/>
            <a:ext cx="457200" cy="1463040"/>
          </a:xfrm>
          <a:prstGeom prst="roundRect">
            <a:avLst>
              <a:gd name="adj" fmla="val 1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154680"/>
            <a:ext cx="36576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46120"/>
            <a:ext cx="466344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50" b="1">
                <a:solidFill>
                  <a:srgbClr val="7C3AED"/>
                </a:solidFill>
                <a:latin typeface="Microsoft JhengHei"/>
                <a:ea typeface="Microsoft JhengHei"/>
                <a:cs typeface="Microsoft JhengHei"/>
              </a:rPr>
              <a:t>圖與依賴結構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從示範軌跡挖「工具 A 的輸出接工具 B」的依賴,建工具圖來縮小候選或強化向量。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代表:ToolNet、Tool Graph Retriever、ControlLLM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3154680"/>
            <a:ext cx="5394960" cy="146304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63640" y="3154680"/>
            <a:ext cx="457200" cy="1463040"/>
          </a:xfrm>
          <a:prstGeom prst="roundRect">
            <a:avLst>
              <a:gd name="adj" fmla="val 1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59" y="3154680"/>
            <a:ext cx="36576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3246120"/>
            <a:ext cx="466344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50" b="1">
                <a:solidFill>
                  <a:srgbClr val="D97706"/>
                </a:solidFill>
                <a:latin typeface="Microsoft JhengHei"/>
                <a:ea typeface="Microsoft JhengHei"/>
                <a:cs typeface="Microsoft JhengHei"/>
              </a:rPr>
              <a:t>生成式檢索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工具變成 LLM 詞表裡的「新單字」,檢索=直接生成那個字;不再外掛檢索器。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代表:ToolkenGPT、ToolGen、Octopus v2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754880"/>
            <a:ext cx="5394960" cy="1463040"/>
          </a:xfrm>
          <a:prstGeom prst="roundRect">
            <a:avLst>
              <a:gd name="adj" fmla="val 10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02920" y="4754880"/>
            <a:ext cx="457200" cy="1463040"/>
          </a:xfrm>
          <a:prstGeom prst="roundRect">
            <a:avLst>
              <a:gd name="adj" fmla="val 1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4754880"/>
            <a:ext cx="36576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4846320"/>
            <a:ext cx="466344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50" b="1">
                <a:solidFill>
                  <a:srgbClr val="059669"/>
                </a:solidFill>
                <a:latin typeface="Microsoft JhengHei"/>
                <a:ea typeface="Microsoft JhengHei"/>
                <a:cs typeface="Microsoft JhengHei"/>
              </a:rPr>
              <a:t>微調呼叫端 LLM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把「會用檢索結果」練進 LLM:訓練時餵檢索文件、遮掉函式名逼它讀說明、合成大量呼叫資料。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代表:Gorilla、Hammer、ToolACE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4754880"/>
            <a:ext cx="5394960" cy="1463040"/>
          </a:xfrm>
          <a:prstGeom prst="roundRect">
            <a:avLst>
              <a:gd name="adj" fmla="val 10000"/>
            </a:avLst>
          </a:prstGeom>
          <a:solidFill>
            <a:srgbClr val="FFED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63640" y="4754880"/>
            <a:ext cx="457200" cy="1463040"/>
          </a:xfrm>
          <a:prstGeom prst="roundRect">
            <a:avLst>
              <a:gd name="adj" fmla="val 1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09359" y="4754880"/>
            <a:ext cx="36576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F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0" y="4846320"/>
            <a:ext cx="466344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50" b="1">
                <a:solidFill>
                  <a:srgbClr val="C2410C"/>
                </a:solidFill>
                <a:latin typeface="Microsoft JhengHei"/>
                <a:ea typeface="Microsoft JhengHei"/>
                <a:cs typeface="Microsoft JhengHei"/>
              </a:rPr>
              <a:t>MCP 專屬系統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面對動態上下架的數千 MCP 工具:外掛向量索引、讓模型主動「開口要工具」、索引自動同步。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代表:RAG-MCP、MCP-Zero、ScaleMCP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/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92840" y="6473952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C7B"/>
                </a:solidFill>
                <a:latin typeface="Microsoft JhengHei"/>
                <a:ea typeface="Microsoft JhengHei"/>
                <a:cs typeface="Microsoft JhengHei"/>
              </a:rPr>
              <a:t>流派 A|免訓練(1/2)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最樸素的起點:查詢和工具說明「比相似」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21207" y="1298448"/>
            <a:ext cx="1051560" cy="41148"/>
          </a:xfrm>
          <a:prstGeom prst="roundRect">
            <a:avLst>
              <a:gd name="adj" fmla="val 50000"/>
            </a:avLst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286000" cy="822960"/>
          </a:xfrm>
          <a:prstGeom prst="roundRect">
            <a:avLst>
              <a:gd name="adj" fmla="val 10000"/>
            </a:avLst>
          </a:prstGeom>
          <a:solidFill>
            <a:srgbClr val="F3F4F6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21945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查詢:「幫我算
兩地開車時間」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206240"/>
            <a:ext cx="2286000" cy="822960"/>
          </a:xfrm>
          <a:prstGeom prst="roundRect">
            <a:avLst>
              <a:gd name="adj" fmla="val 10000"/>
            </a:avLst>
          </a:prstGeom>
          <a:solidFill>
            <a:srgbClr val="F3F4F6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4206240"/>
            <a:ext cx="21945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工具說明:
「路線導航 API…」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1828800"/>
            <a:ext cx="2651760" cy="1371600"/>
          </a:xfrm>
          <a:prstGeom prst="roundRect">
            <a:avLst>
              <a:gd name="adj" fmla="val 10000"/>
            </a:avLst>
          </a:prstGeom>
          <a:solidFill>
            <a:srgbClr val="D5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29000" y="1965960"/>
            <a:ext cx="23774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E7C7B"/>
                </a:solidFill>
                <a:latin typeface="Microsoft JhengHei"/>
                <a:ea typeface="Microsoft JhengHei"/>
                <a:cs typeface="Microsoft JhengHei"/>
              </a:rPr>
              <a:t>BM25(關鍵字)</a:t>
            </a:r>
          </a:p>
          <a:p>
            <a:pPr algn="l"/>
            <a:r>
              <a:rPr sz="110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數「共同單字」出現多少;快,但同義詞就漏(開車≠導航)。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0" y="3657600"/>
            <a:ext cx="2651760" cy="1371600"/>
          </a:xfrm>
          <a:prstGeom prst="roundRect">
            <a:avLst>
              <a:gd name="adj" fmla="val 10000"/>
            </a:avLst>
          </a:prstGeom>
          <a:solidFill>
            <a:srgbClr val="D5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3794760"/>
            <a:ext cx="23774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E7C7B"/>
                </a:solidFill>
                <a:latin typeface="Microsoft JhengHei"/>
                <a:ea typeface="Microsoft JhengHei"/>
                <a:cs typeface="Microsoft JhengHei"/>
              </a:rPr>
              <a:t>向量相似(語意)</a:t>
            </a:r>
          </a:p>
          <a:p>
            <a:pPr algn="l"/>
            <a:r>
              <a:rPr sz="110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句子壓成向量,夾角小=意思近;能抓同義,現成模型即可。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1691640"/>
            <a:ext cx="5257800" cy="4023360"/>
          </a:xfrm>
          <a:prstGeom prst="roundRect">
            <a:avLst>
              <a:gd name="adj" fmla="val 10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1874519"/>
            <a:ext cx="484632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C2410C"/>
                </a:solidFill>
                <a:latin typeface="Microsoft JhengHei"/>
                <a:ea typeface="Microsoft JhengHei"/>
                <a:cs typeface="Microsoft JhengHei"/>
              </a:rPr>
              <a:t>但是 —— 「會找文件 ≠ 會找工具」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ToolRet(ACL 2025 Findings)用 7.6k 個檢索任務、43k 個工具實測: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• 在傳統文件檢索排行榜很強的模型,到工具檢索普遍表現差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• 檢索差 → 下游 LLM 做任務的通過率跟著掉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• 用他們做的 20 萬筆工具檢索資料微調後,才顯著改善</a:t>
            </a:r>
          </a:p>
          <a:p>
            <a:pPr algn="l"/>
            <a:r>
              <a:rPr sz="125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原因:工具說明短、術語密;「相關」的真正定義是「這工具能把任務做完」,不是「字面像」。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出處:ToolRet (Findings of ACL 2025, arXiv:2503.01763)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2840" y="6473952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C7B"/>
                </a:solidFill>
                <a:latin typeface="Microsoft JhengHei"/>
                <a:ea typeface="Microsoft JhengHei"/>
                <a:cs typeface="Microsoft JhengHei"/>
              </a:rPr>
              <a:t>流派 A|免訓練(2/2)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讓 LLM 幫忙「改寫兩端」或「親自去找」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21207" y="1298448"/>
            <a:ext cx="1051560" cy="41148"/>
          </a:xfrm>
          <a:prstGeom prst="roundRect">
            <a:avLst>
              <a:gd name="adj" fmla="val 50000"/>
            </a:avLst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554480"/>
            <a:ext cx="5577840" cy="2377440"/>
          </a:xfrm>
          <a:prstGeom prst="roundRect">
            <a:avLst>
              <a:gd name="adj" fmla="val 10000"/>
            </a:avLst>
          </a:prstGeom>
          <a:solidFill>
            <a:srgbClr val="D5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64208"/>
            <a:ext cx="5212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E7C7B"/>
                </a:solidFill>
                <a:latin typeface="Microsoft JhengHei"/>
                <a:ea typeface="Microsoft JhengHei"/>
                <a:cs typeface="Microsoft JhengHei"/>
              </a:rPr>
              <a:t>Re-Invoke(Findings of EMNLP 2024)— 雙向改寫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40280"/>
            <a:ext cx="1691640" cy="685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240280"/>
            <a:ext cx="16002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工具說明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514600" y="2450592"/>
            <a:ext cx="411480" cy="274320"/>
          </a:xfrm>
          <a:prstGeom prst="rightArrow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71800" y="2240280"/>
            <a:ext cx="2834640" cy="685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17520" y="2240280"/>
            <a:ext cx="27432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LLM 先合成「這工具會被
怎麼問」的假查詢(離線)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063240"/>
            <a:ext cx="1691640" cy="685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063240"/>
            <a:ext cx="16002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使用者查詢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514600" y="3273552"/>
            <a:ext cx="411480" cy="274320"/>
          </a:xfrm>
          <a:prstGeom prst="rightArrow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971800" y="3063240"/>
            <a:ext cx="2834640" cy="685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17520" y="3063240"/>
            <a:ext cx="27432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LLM 抽出核心「工具意圖」
(去雜訊、拆多意圖)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1600200"/>
            <a:ext cx="182880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709928"/>
            <a:ext cx="1645920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0E7C7B"/>
                </a:solidFill>
                <a:latin typeface="Microsoft JhengHei"/>
                <a:ea typeface="Microsoft JhengHei"/>
                <a:cs typeface="Microsoft JhengHei"/>
              </a:rPr>
              <a:t>+20%</a:t>
            </a:r>
          </a:p>
          <a:p>
            <a:pPr algn="ctr"/>
            <a:r>
              <a:rPr sz="115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單工具 nDCG@5
(相對提升,ToolE)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75320" y="1600200"/>
            <a:ext cx="182880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66760" y="1709928"/>
            <a:ext cx="1645920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0E7C7B"/>
                </a:solidFill>
                <a:latin typeface="Microsoft JhengHei"/>
                <a:ea typeface="Microsoft JhengHei"/>
                <a:cs typeface="Microsoft JhengHei"/>
              </a:rPr>
              <a:t>+39%</a:t>
            </a:r>
          </a:p>
          <a:p>
            <a:pPr algn="ctr"/>
            <a:r>
              <a:rPr sz="115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多工具 nDCG@5
(相對提升,ToolE)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241280" y="1600200"/>
            <a:ext cx="141732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332719" y="1709928"/>
            <a:ext cx="1234440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E7C7B"/>
                </a:solidFill>
                <a:latin typeface="Microsoft JhengHei"/>
                <a:ea typeface="Microsoft JhengHei"/>
                <a:cs typeface="Microsoft JhengHei"/>
              </a:rPr>
              <a:t>0 訓練</a:t>
            </a:r>
          </a:p>
          <a:p>
            <a:pPr algn="ctr"/>
            <a:r>
              <a:rPr sz="115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全程無監督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160520"/>
            <a:ext cx="3611880" cy="1965960"/>
          </a:xfrm>
          <a:prstGeom prst="roundRect">
            <a:avLst>
              <a:gd name="adj" fmla="val 10000"/>
            </a:avLst>
          </a:prstGeom>
          <a:solidFill>
            <a:srgbClr val="D5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02920" y="4160520"/>
            <a:ext cx="3611880" cy="82296"/>
          </a:xfrm>
          <a:prstGeom prst="roundRect">
            <a:avLst>
              <a:gd name="adj" fmla="val 50000"/>
            </a:avLst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512" y="4361688"/>
            <a:ext cx="3282696" cy="163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E7C7B"/>
                </a:solidFill>
                <a:latin typeface="Microsoft JhengHei"/>
                <a:ea typeface="Microsoft JhengHei"/>
                <a:cs typeface="Microsoft JhengHei"/>
              </a:rPr>
              <a:t>EasyTool(NAACL 2025)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把又長又亂的工具文件改寫成統一精簡說明。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ToolBench 文件 2,530 → 748 tokens(−70.4%),表現同步提升。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51960" y="4160520"/>
            <a:ext cx="3611880" cy="1965960"/>
          </a:xfrm>
          <a:prstGeom prst="roundRect">
            <a:avLst>
              <a:gd name="adj" fmla="val 10000"/>
            </a:avLst>
          </a:prstGeom>
          <a:solidFill>
            <a:srgbClr val="D5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251960" y="4160520"/>
            <a:ext cx="3611880" cy="82296"/>
          </a:xfrm>
          <a:prstGeom prst="roundRect">
            <a:avLst>
              <a:gd name="adj" fmla="val 50000"/>
            </a:avLst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16552" y="4361688"/>
            <a:ext cx="3282696" cy="163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E7C7B"/>
                </a:solidFill>
                <a:latin typeface="Microsoft JhengHei"/>
                <a:ea typeface="Microsoft JhengHei"/>
                <a:cs typeface="Microsoft JhengHei"/>
              </a:rPr>
              <a:t>Toolshed(ICAART 2025)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檢索前/中/後三階段 RAG 組合拳(文件增強+查詢改寫+重排反思)。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Recall@5 絕對提升:ToolE 單 +46%、多 +56%、Seal-Tools +47%。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01000" y="4160520"/>
            <a:ext cx="3657600" cy="1965960"/>
          </a:xfrm>
          <a:prstGeom prst="roundRect">
            <a:avLst>
              <a:gd name="adj" fmla="val 10000"/>
            </a:avLst>
          </a:prstGeom>
          <a:solidFill>
            <a:srgbClr val="D5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001000" y="4160520"/>
            <a:ext cx="3657600" cy="82296"/>
          </a:xfrm>
          <a:prstGeom prst="roundRect">
            <a:avLst>
              <a:gd name="adj" fmla="val 50000"/>
            </a:avLst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65592" y="4361688"/>
            <a:ext cx="3328416" cy="163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E7C7B"/>
                </a:solidFill>
                <a:latin typeface="Microsoft JhengHei"/>
                <a:ea typeface="Microsoft JhengHei"/>
                <a:cs typeface="Microsoft JhengHei"/>
              </a:rPr>
              <a:t>AnyTool(ICML 2024)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GPT-4 當「階層式檢索代理」:分類→工具→API 逐層找,失敗會自我反省重找。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平均通過率比 ToolLLM +35.4%;代價是 GPT-4 多輪呼叫、貴且慢。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473952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出處:Re-Invoke (arXiv:2408.01875)、EasyTool (arXiv:2401.06201)、Toolshed (arXiv:2410.14594)、AnyTool (arXiv:2402.04253)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92840" y="6473952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563EB"/>
                </a:solidFill>
                <a:latin typeface="Microsoft JhengHei"/>
                <a:ea typeface="Microsoft JhengHei"/>
                <a:cs typeface="Microsoft JhengHei"/>
              </a:rPr>
              <a:t>流派 B|訓練檢索器(1/2)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對比學習:把「對的工具」拉近、「錯的」推遠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21207" y="1298448"/>
            <a:ext cx="1051560" cy="4114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600200"/>
            <a:ext cx="5394960" cy="2743200"/>
          </a:xfrm>
          <a:prstGeom prst="roundRect">
            <a:avLst>
              <a:gd name="adj" fmla="val 10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73736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訓練一個小的「雙塔」向量模型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286000"/>
            <a:ext cx="1554480" cy="640080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286000"/>
            <a:ext cx="1463039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2563EB"/>
                </a:solidFill>
                <a:latin typeface="Microsoft JhengHei"/>
                <a:ea typeface="Microsoft JhengHei"/>
                <a:cs typeface="Microsoft JhengHei"/>
              </a:rPr>
              <a:t>查詢向量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2148840"/>
            <a:ext cx="1463040" cy="548640"/>
          </a:xfrm>
          <a:prstGeom prst="roundRect">
            <a:avLst>
              <a:gd name="adj" fmla="val 10000"/>
            </a:avLst>
          </a:prstGeom>
          <a:solidFill>
            <a:srgbClr val="D1FAE5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214884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059669"/>
                </a:solidFill>
                <a:latin typeface="Microsoft JhengHei"/>
                <a:ea typeface="Microsoft JhengHei"/>
                <a:cs typeface="Microsoft JhengHei"/>
              </a:rPr>
              <a:t>正確工具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31920" y="3108960"/>
            <a:ext cx="1463040" cy="548640"/>
          </a:xfrm>
          <a:prstGeom prst="roundRect">
            <a:avLst>
              <a:gd name="adj" fmla="val 10000"/>
            </a:avLst>
          </a:prstGeom>
          <a:solidFill>
            <a:srgbClr val="FFEDD5"/>
          </a:solidFill>
          <a:ln w="1270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77639" y="310896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C2410C"/>
                </a:solidFill>
                <a:latin typeface="Microsoft JhengHei"/>
                <a:ea typeface="Microsoft JhengHei"/>
                <a:cs typeface="Microsoft JhengHei"/>
              </a:rPr>
              <a:t>無關工具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4600" y="2212848"/>
            <a:ext cx="731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59669"/>
                </a:solidFill>
                <a:latin typeface="Microsoft JhengHei"/>
                <a:ea typeface="Microsoft JhengHei"/>
                <a:cs typeface="Microsoft JhengHei"/>
              </a:rPr>
              <a:t>拉近→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06040" y="3063240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C2410C"/>
                </a:solidFill>
                <a:latin typeface="Microsoft JhengHei"/>
                <a:ea typeface="Microsoft JhengHei"/>
                <a:cs typeface="Microsoft JhengHei"/>
              </a:rPr>
              <a:t>←推遠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79476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訓練資料:標註或 LLM 合成的(查詢, 正確工具)配對。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600200"/>
            <a:ext cx="5394960" cy="1600200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1600200"/>
            <a:ext cx="5394960" cy="822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8231" y="1801368"/>
            <a:ext cx="5065776" cy="1271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2563EB"/>
                </a:solidFill>
                <a:latin typeface="Microsoft JhengHei"/>
                <a:ea typeface="Microsoft JhengHei"/>
                <a:cs typeface="Microsoft JhengHei"/>
              </a:rPr>
              <a:t>ToolLLM API Retriever(ICLR 2024 Spotlight)— 開山標配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在 16,464 個真實 RapidAPI 上微調 Sentence-BERT。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NDCG 全面大勝 BM25 與 OpenAI ada 向量;單工具比多工具好找。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之後幾乎所有論文的最強公版基線(俗稱 ToolRetriever)。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3383280"/>
            <a:ext cx="5394960" cy="1325880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63640" y="3383280"/>
            <a:ext cx="5394960" cy="822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28231" y="3584448"/>
            <a:ext cx="5065776" cy="9966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2563EB"/>
                </a:solidFill>
                <a:latin typeface="Microsoft JhengHei"/>
                <a:ea typeface="Microsoft JhengHei"/>
                <a:cs typeface="Microsoft JhengHei"/>
              </a:rPr>
              <a:t>ToolRet-train(Findings of ACL 2025)— 幫 IR 模型補課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20 萬筆工具檢索訓練資料;微調後,原本疲軟的 IR 模型顯著變強。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572000"/>
            <a:ext cx="5394960" cy="1554480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2920" y="4572000"/>
            <a:ext cx="5394960" cy="822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4773168"/>
            <a:ext cx="5065776" cy="1225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2563EB"/>
                </a:solidFill>
                <a:latin typeface="Microsoft JhengHei"/>
                <a:ea typeface="Microsoft JhengHei"/>
                <a:cs typeface="Microsoft JhengHei"/>
              </a:rPr>
              <a:t>COLT(CIKM 2024)— 從「找相似」到「湊齊一套」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多工具任務漏一個=整題失敗。查詢-場景-工具建圖 + 圖對比學習,學「哪些工具要一起出現」;提出 COMP@K 指標,完整涵蓋才算分。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4846320"/>
            <a:ext cx="5394960" cy="1280160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63640" y="4846320"/>
            <a:ext cx="5394960" cy="822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8231" y="5047488"/>
            <a:ext cx="5065776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2563EB"/>
                </a:solidFill>
                <a:latin typeface="Microsoft JhengHei"/>
                <a:ea typeface="Microsoft JhengHei"/>
                <a:cs typeface="Microsoft JhengHei"/>
              </a:rPr>
              <a:t>TinyAgent ToolRAG(EMNLP 2024 Demo)— 端側分類器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微調 DeBERTa 小模型做多標籤分類;配 1.1B/7B 端側模型,整體成功率超過 GPT-4-Turbo。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73952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出處:ToolLLM (arXiv:2307.16789)、ToolRet (2503.01763)、COLT (2405.16089)、TinyAgent (2409.00608)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563EB"/>
                </a:solidFill>
                <a:latin typeface="Microsoft JhengHei"/>
                <a:ea typeface="Microsoft JhengHei"/>
                <a:cs typeface="Microsoft JhengHei"/>
              </a:rPr>
              <a:t>流派 B|訓練檢索器(2/2)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DTDR:多步任務,要連「已經呼叫了什麼」一起看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21207" y="1298448"/>
            <a:ext cx="1051560" cy="4114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554480"/>
            <a:ext cx="5394960" cy="2103120"/>
          </a:xfrm>
          <a:prstGeom prst="roundRect">
            <a:avLst>
              <a:gd name="adj" fmla="val 10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64208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靜態檢索器:只看查詢 → 每一步都給同一批工具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94560"/>
            <a:ext cx="1463040" cy="5943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94560"/>
            <a:ext cx="137160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查詢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286000" y="2377440"/>
            <a:ext cx="365760" cy="256032"/>
          </a:xfrm>
          <a:prstGeom prst="rightArrow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697480" y="2194560"/>
            <a:ext cx="1737360" cy="5943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0" y="2194560"/>
            <a:ext cx="1645919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檢索器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480560" y="2377440"/>
            <a:ext cx="365760" cy="256032"/>
          </a:xfrm>
          <a:prstGeom prst="rightArrow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892040" y="2194560"/>
            <a:ext cx="868680" cy="5943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37759" y="2194560"/>
            <a:ext cx="7772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同一批
候選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971800"/>
            <a:ext cx="4937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C2410C"/>
                </a:solidFill>
                <a:latin typeface="Microsoft JhengHei"/>
                <a:ea typeface="Microsoft JhengHei"/>
                <a:cs typeface="Microsoft JhengHei"/>
              </a:rPr>
              <a:t>問題:老是推「最常見工具」;計畫越長排序越糟(9 步時 Top-1 只剩 12.9%)。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840480"/>
            <a:ext cx="5394960" cy="2240280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950208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563EB"/>
                </a:solidFill>
                <a:latin typeface="Microsoft JhengHei"/>
                <a:ea typeface="Microsoft JhengHei"/>
                <a:cs typeface="Microsoft JhengHei"/>
              </a:rPr>
              <a:t>DTDR(arXiv 2025,Qualcomm):查詢 + 呼叫歷史一起進檢索器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526280"/>
            <a:ext cx="146304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526280"/>
            <a:ext cx="13716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查詢 +
已呼叫序列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2286000" y="4773168"/>
            <a:ext cx="365760" cy="256032"/>
          </a:xfrm>
          <a:prstGeom prst="righ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697480" y="4526280"/>
            <a:ext cx="214884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43200" y="4526280"/>
            <a:ext cx="20574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DTDR-L:1層線性分類器
DTDR-C:分群+馬可夫圖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4892040" y="4773168"/>
            <a:ext cx="365760" cy="256032"/>
          </a:xfrm>
          <a:prstGeom prst="righ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303520" y="4526280"/>
            <a:ext cx="54864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49240" y="4526280"/>
            <a:ext cx="457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下一步
工具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5394960"/>
            <a:ext cx="4937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直覺:已經開了檔案、做完摘要 → 下一步大概要寄信,不是再開一次檔案。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3640" y="164592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原論文數字(Qwen3-0.6B,TinyAgent 資料集)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2103120"/>
            <a:ext cx="2606040" cy="1234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79" y="2212848"/>
            <a:ext cx="2423160" cy="10149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2563EB"/>
                </a:solidFill>
                <a:latin typeface="Microsoft JhengHei"/>
                <a:ea typeface="Microsoft JhengHei"/>
                <a:cs typeface="Microsoft JhengHei"/>
              </a:rPr>
              <a:t>65.1 vs 25.6</a:t>
            </a:r>
          </a:p>
          <a:p>
            <a:pPr algn="ctr"/>
            <a:r>
              <a:rPr sz="115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函式選擇正確率
(DTDR-L vs 靜態檢索器)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52560" y="2103120"/>
            <a:ext cx="2606040" cy="1234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0" y="2212848"/>
            <a:ext cx="2423160" cy="10149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2563EB"/>
                </a:solidFill>
                <a:latin typeface="Microsoft JhengHei"/>
                <a:ea typeface="Microsoft JhengHei"/>
                <a:cs typeface="Microsoft JhengHei"/>
              </a:rPr>
              <a:t>0.93 vs 0.53</a:t>
            </a:r>
          </a:p>
          <a:p>
            <a:pPr algn="ctr"/>
            <a:r>
              <a:rPr sz="115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檢索排名 MRR
(越高越好)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63640" y="3520440"/>
            <a:ext cx="2606040" cy="1234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55079" y="3630168"/>
            <a:ext cx="2423160" cy="10149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900" b="1">
                <a:solidFill>
                  <a:srgbClr val="2563EB"/>
                </a:solidFill>
                <a:latin typeface="Microsoft JhengHei"/>
                <a:ea typeface="Microsoft JhengHei"/>
                <a:cs typeface="Microsoft JhengHei"/>
              </a:rPr>
              <a:t>+23%~104%</a:t>
            </a:r>
          </a:p>
          <a:p>
            <a:pPr algn="ctr"/>
            <a:r>
              <a:rPr sz="115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端到端成功率
(相對最強靜態基線)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052560" y="3520440"/>
            <a:ext cx="2606040" cy="1234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00" y="3630168"/>
            <a:ext cx="2423160" cy="10149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2563EB"/>
                </a:solidFill>
                <a:latin typeface="Microsoft JhengHei"/>
                <a:ea typeface="Microsoft JhengHei"/>
                <a:cs typeface="Microsoft JhengHei"/>
              </a:rPr>
              <a:t>−73%</a:t>
            </a:r>
          </a:p>
          <a:p>
            <a:pPr algn="ctr"/>
            <a:r>
              <a:rPr sz="115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總提示長度
(用檢索結果遮掉其餘工具)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63640" y="4983480"/>
            <a:ext cx="5394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9 步長計畫的 Top-1 檢索:DTDR-L 仍有 85.1%,只看查詢的靜態版掉到 12.9%。</a:t>
            </a:r>
          </a:p>
          <a:p>
            <a:pPr algn="l"/>
            <a:r>
              <a:rPr sz="1250" b="1">
                <a:solidFill>
                  <a:srgbClr val="2563EB"/>
                </a:solidFill>
                <a:latin typeface="Microsoft JhengHei"/>
                <a:ea typeface="Microsoft JhengHei"/>
                <a:cs typeface="Microsoft JhengHei"/>
              </a:rPr>
              <a:t>結論:多步任務裡「歷史」是比查詢更強的下一步線索。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6473952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出處:DTDR (arXiv:2512.17052)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92840" y="6473952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7C3AED"/>
                </a:solidFill>
                <a:latin typeface="Microsoft JhengHei"/>
                <a:ea typeface="Microsoft JhengHei"/>
                <a:cs typeface="Microsoft JhengHei"/>
              </a:rPr>
              <a:t>流派 C|圖與依賴結構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工具不是孤島:A 的輸出常是 B 的輸入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21207" y="1298448"/>
            <a:ext cx="1051560" cy="4114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600200"/>
            <a:ext cx="5394960" cy="2743200"/>
          </a:xfrm>
          <a:prstGeom prst="roundRect">
            <a:avLst>
              <a:gd name="adj" fmla="val 10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709928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工具依賴圖(從歷史軌跡統計而來)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286000"/>
            <a:ext cx="1371600" cy="548640"/>
          </a:xfrm>
          <a:prstGeom prst="roundRect">
            <a:avLst>
              <a:gd name="adj" fmla="val 10000"/>
            </a:avLst>
          </a:prstGeom>
          <a:solidFill>
            <a:srgbClr val="EDE9FE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286000"/>
            <a:ext cx="1280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7C3AED"/>
                </a:solidFill>
                <a:latin typeface="Microsoft JhengHei"/>
                <a:ea typeface="Microsoft JhengHei"/>
                <a:cs typeface="Microsoft JhengHei"/>
              </a:rPr>
              <a:t>開檔案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88920" y="2286000"/>
            <a:ext cx="1371600" cy="548640"/>
          </a:xfrm>
          <a:prstGeom prst="roundRect">
            <a:avLst>
              <a:gd name="adj" fmla="val 10000"/>
            </a:avLst>
          </a:prstGeom>
          <a:solidFill>
            <a:srgbClr val="EDE9FE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34639" y="2286000"/>
            <a:ext cx="1280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7C3AED"/>
                </a:solidFill>
                <a:latin typeface="Microsoft JhengHei"/>
                <a:ea typeface="Microsoft JhengHei"/>
                <a:cs typeface="Microsoft JhengHei"/>
              </a:rPr>
              <a:t>摘要PDF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17720" y="2286000"/>
            <a:ext cx="1097280" cy="548640"/>
          </a:xfrm>
          <a:prstGeom prst="roundRect">
            <a:avLst>
              <a:gd name="adj" fmla="val 10000"/>
            </a:avLst>
          </a:prstGeom>
          <a:solidFill>
            <a:srgbClr val="EDE9FE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2286000"/>
            <a:ext cx="100583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7C3AED"/>
                </a:solidFill>
                <a:latin typeface="Microsoft JhengHei"/>
                <a:ea typeface="Microsoft JhengHei"/>
                <a:cs typeface="Microsoft JhengHei"/>
              </a:rPr>
              <a:t>寄信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88920" y="3291840"/>
            <a:ext cx="1371600" cy="548640"/>
          </a:xfrm>
          <a:prstGeom prst="roundRect">
            <a:avLst>
              <a:gd name="adj" fmla="val 10000"/>
            </a:avLst>
          </a:prstGeom>
          <a:solidFill>
            <a:srgbClr val="EDE9FE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34639" y="3291840"/>
            <a:ext cx="1280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7C3AED"/>
                </a:solidFill>
                <a:latin typeface="Microsoft JhengHei"/>
                <a:ea typeface="Microsoft JhengHei"/>
                <a:cs typeface="Microsoft JhengHei"/>
              </a:rPr>
              <a:t>查Email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2286000" y="2432304"/>
            <a:ext cx="457200" cy="256032"/>
          </a:xfrm>
          <a:prstGeom prst="rightArrow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4206240" y="2432304"/>
            <a:ext cx="365760" cy="256032"/>
          </a:xfrm>
          <a:prstGeom prst="rightArrow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9080" y="3200400"/>
            <a:ext cx="1280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7C3AED"/>
                </a:solidFill>
                <a:latin typeface="Microsoft JhengHei"/>
                <a:ea typeface="Microsoft JhengHei"/>
                <a:cs typeface="Microsoft JhengHei"/>
              </a:rPr>
              <a:t>↗ 也能接寄信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93192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檢索時:只考慮「目前節點的後繼」或把依賴揉進向量。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1600200"/>
            <a:ext cx="5394960" cy="1417320"/>
          </a:xfrm>
          <a:prstGeom prst="roundRect">
            <a:avLst>
              <a:gd name="adj" fmla="val 10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63640" y="1600200"/>
            <a:ext cx="5394960" cy="8229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28231" y="1801368"/>
            <a:ext cx="5065776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Microsoft JhengHei"/>
                <a:ea typeface="Microsoft JhengHei"/>
                <a:cs typeface="Microsoft JhengHei"/>
              </a:rPr>
              <a:t>ToolNet(arXiv 2024)— 在圖上走格子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軌跡統計出有向加權圖;LLM 每步只看後繼節點。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工具規模拉到數千級,token 只適度增加;弱點:只看上一步、不看查詢。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3200400"/>
            <a:ext cx="5394960" cy="1417320"/>
          </a:xfrm>
          <a:prstGeom prst="roundRect">
            <a:avLst>
              <a:gd name="adj" fmla="val 10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63640" y="3200400"/>
            <a:ext cx="5394960" cy="8229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8231" y="3401568"/>
            <a:ext cx="5065776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Microsoft JhengHei"/>
                <a:ea typeface="Microsoft JhengHei"/>
                <a:cs typeface="Microsoft JhengHei"/>
              </a:rPr>
              <a:t>Tool Graph Retriever(arXiv 2025)— 依賴揉進向量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自建 TDI300K 訓「依賴判別器」→ 建圖 → 圖卷積強化工具向量。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大幅提升各現成向量模型;疊在 ToolBench-IR 上再創 SOTA;圖越密增益越大。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572000"/>
            <a:ext cx="11155680" cy="1417320"/>
          </a:xfrm>
          <a:prstGeom prst="roundRect">
            <a:avLst>
              <a:gd name="adj" fmla="val 10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4736592"/>
            <a:ext cx="106984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為什麼值得做?TaskBench(NeurIPS 2024 D&amp;B)量化過:讓 LLM 畫「工具呼叫圖」時,連邊(誰接誰)比選點(用哪些)難約 30% F1。</a:t>
            </a:r>
          </a:p>
          <a:p>
            <a:pPr algn="l"/>
            <a:r>
              <a:rPr sz="1300" b="1">
                <a:solidFill>
                  <a:srgbClr val="7C3AED"/>
                </a:solidFill>
                <a:latin typeface="Microsoft JhengHei"/>
                <a:ea typeface="Microsoft JhengHei"/>
                <a:cs typeface="Microsoft JhengHei"/>
              </a:rPr>
              <a:t>→ 依賴關係正是現在模型最弱、檢索器最能幫忙的地方。DTDR-C(前頁)的「分群+馬可夫圖」也屬此路線。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73952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出處:ToolNet (arXiv:2403.00839)、TGR (arXiv:2508.05152)、TaskBench (arXiv:2311.18760)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92840" y="6473952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D97706"/>
                </a:solidFill>
                <a:latin typeface="Microsoft JhengHei"/>
                <a:ea typeface="Microsoft JhengHei"/>
                <a:cs typeface="Microsoft JhengHei"/>
              </a:rPr>
              <a:t>流派 D|生成式檢索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不外掛檢索器:把每個工具變成 LLM 的「新單字」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21207" y="1298448"/>
            <a:ext cx="1051560" cy="41148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600200"/>
            <a:ext cx="5394960" cy="2651760"/>
          </a:xfrm>
          <a:prstGeom prst="roundRect">
            <a:avLst>
              <a:gd name="adj" fmla="val 10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709928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LLM 詞表(vocabulary)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194560"/>
            <a:ext cx="868680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194560"/>
            <a:ext cx="7772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「天」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83080" y="2194560"/>
            <a:ext cx="868680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2194560"/>
            <a:ext cx="7772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「氣」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0" y="2194560"/>
            <a:ext cx="868680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2194560"/>
            <a:ext cx="7772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「查」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03320" y="2194560"/>
            <a:ext cx="868680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49040" y="2194560"/>
            <a:ext cx="7772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2880360"/>
            <a:ext cx="1920240" cy="50292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 w="127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2880360"/>
            <a:ext cx="1828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D97706"/>
                </a:solidFill>
                <a:latin typeface="Microsoft JhengHei"/>
                <a:ea typeface="Microsoft JhengHei"/>
                <a:cs typeface="Microsoft JhengHei"/>
              </a:rPr>
              <a:t>&lt;tool_天氣API&gt;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880360" y="2880360"/>
            <a:ext cx="1920240" cy="50292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 w="127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26079" y="2880360"/>
            <a:ext cx="1828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D97706"/>
                </a:solidFill>
                <a:latin typeface="Microsoft JhengHei"/>
                <a:ea typeface="Microsoft JhengHei"/>
                <a:cs typeface="Microsoft JhengHei"/>
              </a:rPr>
              <a:t>&lt;tool_寄信&gt;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520440"/>
            <a:ext cx="5029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「檢索」= 模型直接生成工具詞元,像說出下一個字;</a:t>
            </a:r>
          </a:p>
          <a:p>
            <a:pPr algn="l"/>
            <a:r>
              <a:rPr sz="115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工具知識存在參數裡,不佔提示視窗。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1600200"/>
            <a:ext cx="5394960" cy="137160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63640" y="1600200"/>
            <a:ext cx="5394960" cy="8229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1" y="1801368"/>
            <a:ext cx="5065776" cy="10424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D97706"/>
                </a:solidFill>
                <a:latin typeface="Microsoft JhengHei"/>
                <a:ea typeface="Microsoft JhengHei"/>
                <a:cs typeface="Microsoft JhengHei"/>
              </a:rPr>
              <a:t>ToolkenGPT(NeurIPS 2023 Oral)— 只學嵌入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LLM 本體凍結,每個工具只訓練一個「toolken」嵌入。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數學/問答/具身規劃上勝過 few-shot 與 ReAct 基線;新工具隨插隨學。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3154680"/>
            <a:ext cx="5394960" cy="173736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263640" y="3154680"/>
            <a:ext cx="5394960" cy="8229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28231" y="3355848"/>
            <a:ext cx="5065776" cy="14081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D97706"/>
                </a:solidFill>
                <a:latin typeface="Microsoft JhengHei"/>
                <a:ea typeface="Microsoft JhengHei"/>
                <a:cs typeface="Microsoft JhengHei"/>
              </a:rPr>
              <a:t>ToolGen(ICLR 2025)— 47k 工具全進詞表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三階段:工具記憶 → 檢索訓練 → 代理微調。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檢索 NDCG 全面超越訓練雙塔 ToolRetriever,部分超過帶 GPT-3.5 迭代回饋的管線;47k 工具全量檢索仍穩健。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trade-off:工具上下架要動模型(與 MCP 動態生態緊張)。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52628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端側極致版:Octopus v2(arXiv 2024,2B 模型)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4937760"/>
            <a:ext cx="256032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5047488"/>
            <a:ext cx="2377439" cy="9235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2200" b="1">
                <a:solidFill>
                  <a:srgbClr val="D97706"/>
                </a:solidFill>
                <a:latin typeface="Microsoft JhengHei"/>
                <a:ea typeface="Microsoft JhengHei"/>
                <a:cs typeface="Microsoft JhengHei"/>
              </a:rPr>
              <a:t>99.52%</a:t>
            </a:r>
          </a:p>
          <a:p>
            <a:pPr algn="ctr"/>
            <a:r>
              <a:rPr sz="115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函式呼叫準確率
(超過 GPT-4 同場景)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200400" y="4937760"/>
            <a:ext cx="256032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91840" y="5047488"/>
            <a:ext cx="2377439" cy="9235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2200" b="1">
                <a:solidFill>
                  <a:srgbClr val="D97706"/>
                </a:solidFill>
                <a:latin typeface="Microsoft JhengHei"/>
                <a:ea typeface="Microsoft JhengHei"/>
                <a:cs typeface="Microsoft JhengHei"/>
              </a:rPr>
              <a:t>0.38 秒</a:t>
            </a:r>
          </a:p>
          <a:p>
            <a:pPr algn="ctr"/>
            <a:r>
              <a:rPr sz="115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單次呼叫延遲
(手機可跑)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0" y="5029200"/>
            <a:ext cx="5669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並把上下文長度砍 95%、比「7B+RAG 檢索呼叫」快約 35 倍 —— 工具固定的場景,生成式是延遲之王。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473952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出處:ToolkenGPT (arXiv:2305.11554)、ToolGen (arXiv:2410.03439)、Octopus v2 (arXiv:2404.01744)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92840" y="6473952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9669"/>
                </a:solidFill>
                <a:latin typeface="Microsoft JhengHei"/>
                <a:ea typeface="Microsoft JhengHei"/>
                <a:cs typeface="Microsoft JhengHei"/>
              </a:rPr>
              <a:t>流派 E|微調呼叫端 LLM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檢索不會完美 —— 把「會用檢索結果」練進模型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21207" y="1298448"/>
            <a:ext cx="1051560" cy="41148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600200"/>
            <a:ext cx="5440680" cy="2148840"/>
          </a:xfrm>
          <a:prstGeom prst="roundRect">
            <a:avLst>
              <a:gd name="adj" fmla="val 10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00200"/>
            <a:ext cx="5440680" cy="822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" y="1801368"/>
            <a:ext cx="5111496" cy="1819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59669"/>
                </a:solidFill>
                <a:latin typeface="Microsoft JhengHei"/>
                <a:ea typeface="Microsoft JhengHei"/>
                <a:cs typeface="Microsoft JhengHei"/>
              </a:rPr>
              <a:t>Gorilla(NeurIPS 2024)— 檢索感知訓練 RAT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微調時就把「檢索到的 API 文件」放進輸入,教模型「照文件寫呼叫」而不是硬背。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APIBench 上以 AST 比對評測:Torch Hub / HuggingFace 上超過 GPT-4;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API 文件改版也能跟上、幻覺大幅下降 —— 檢索器與模型「共生」。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600200"/>
            <a:ext cx="5440680" cy="2148840"/>
          </a:xfrm>
          <a:prstGeom prst="roundRect">
            <a:avLst>
              <a:gd name="adj" fmla="val 10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63640" y="1600200"/>
            <a:ext cx="5440680" cy="822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28231" y="1801368"/>
            <a:ext cx="5111496" cy="1819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59669"/>
                </a:solidFill>
                <a:latin typeface="Microsoft JhengHei"/>
                <a:ea typeface="Microsoft JhengHei"/>
                <a:cs typeface="Microsoft JhengHei"/>
              </a:rPr>
              <a:t>Hammer(ICLR 2025 Spotlight)— 函式遮罩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訓練時把函式/參數「名字換成亂碼」,逼模型只讀描述判斷 → 換一批工具也不崩。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再加 7,500 筆「其實沒有合適工具」的樣本,學會該拒就拒。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Hammer-7B 在 BFCL v2 與 GPT-4 / GPT-4o 級模型同場競技。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931920"/>
            <a:ext cx="5440680" cy="1828800"/>
          </a:xfrm>
          <a:prstGeom prst="roundRect">
            <a:avLst>
              <a:gd name="adj" fmla="val 10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02920" y="3931920"/>
            <a:ext cx="5440680" cy="822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" y="4133087"/>
            <a:ext cx="5111496" cy="14996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59669"/>
                </a:solidFill>
                <a:latin typeface="Microsoft JhengHei"/>
                <a:ea typeface="Microsoft JhengHei"/>
                <a:cs typeface="Microsoft JhengHei"/>
              </a:rPr>
              <a:t>ToolACE(ICLR 2025)— 用合成資料灌能力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自演化合成 26,507 個 API + 多代理互演對話 + 雙層驗證。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8B 小模型在 BFCL-v3 打到與 GPT-4 系相當。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3931920"/>
            <a:ext cx="5440680" cy="1828800"/>
          </a:xfrm>
          <a:prstGeom prst="roundRect">
            <a:avLst>
              <a:gd name="adj" fmla="val 10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4114800"/>
            <a:ext cx="5029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59669"/>
                </a:solidFill>
                <a:latin typeface="Microsoft JhengHei"/>
                <a:ea typeface="Microsoft JhengHei"/>
                <a:cs typeface="Microsoft JhengHei"/>
              </a:rPr>
              <a:t>這一派跟「檢索」什麼關係?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檢索器負責「給候選」,呼叫端負責「在候選中選對/拒答」。</a:t>
            </a:r>
          </a:p>
          <a:p>
            <a:pPr algn="l"/>
            <a:r>
              <a:rPr sz="125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兩端共同設計,系統才穩 —— BFCL 甚至把「不該呼叫時不呼叫」列為一級評測項目。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出處:Gorilla (arXiv:2305.15334)、Hammer (arXiv:2410.04587)、ToolACE (arXiv:2409.00920)、BFCL (ICML 2025)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92840" y="6473952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C2410C"/>
                </a:solidFill>
                <a:latin typeface="Microsoft JhengHei"/>
                <a:ea typeface="Microsoft JhengHei"/>
                <a:cs typeface="Microsoft JhengHei"/>
              </a:rPr>
              <a:t>MCP 專區(1/2)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MCP 架構一分鐘看懂,以及它為什麼把檢索變更難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21207" y="1298448"/>
            <a:ext cx="1051560" cy="41148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645920"/>
            <a:ext cx="5760720" cy="2834640"/>
          </a:xfrm>
          <a:prstGeom prst="roundRect">
            <a:avLst>
              <a:gd name="adj" fmla="val 10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2011680"/>
            <a:ext cx="1920240" cy="914400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18288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2563EB"/>
                </a:solidFill>
                <a:latin typeface="Microsoft JhengHei"/>
                <a:ea typeface="Microsoft JhengHei"/>
                <a:cs typeface="Microsoft JhengHei"/>
              </a:rPr>
              <a:t>Host / Agent
(Claude、IDE…)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743200" y="2331720"/>
            <a:ext cx="457200" cy="274320"/>
          </a:xfrm>
          <a:prstGeom prst="rightArrow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246120" y="2011680"/>
            <a:ext cx="123444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39" y="2011680"/>
            <a:ext cx="11430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MCP
Client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526280" y="2331720"/>
            <a:ext cx="457200" cy="274320"/>
          </a:xfrm>
          <a:prstGeom prst="rightArrow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892040" y="1783080"/>
            <a:ext cx="1280160" cy="713232"/>
          </a:xfrm>
          <a:prstGeom prst="roundRect">
            <a:avLst>
              <a:gd name="adj" fmla="val 10000"/>
            </a:avLst>
          </a:prstGeom>
          <a:solidFill>
            <a:srgbClr val="FFEDD5"/>
          </a:solidFill>
          <a:ln w="1270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37759" y="1783080"/>
            <a:ext cx="1188719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天氣 server
3 個工具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92040" y="2624328"/>
            <a:ext cx="1280160" cy="713232"/>
          </a:xfrm>
          <a:prstGeom prst="roundRect">
            <a:avLst>
              <a:gd name="adj" fmla="val 10000"/>
            </a:avLst>
          </a:prstGeom>
          <a:solidFill>
            <a:srgbClr val="FFEDD5"/>
          </a:solidFill>
          <a:ln w="1270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37759" y="2624328"/>
            <a:ext cx="1188719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GitHub server
30 個工具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92040" y="3465576"/>
            <a:ext cx="1280160" cy="713232"/>
          </a:xfrm>
          <a:prstGeom prst="roundRect">
            <a:avLst>
              <a:gd name="adj" fmla="val 10000"/>
            </a:avLst>
          </a:prstGeom>
          <a:solidFill>
            <a:srgbClr val="FFEDD5"/>
          </a:solidFill>
          <a:ln w="1270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37759" y="3465576"/>
            <a:ext cx="1188719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資料庫 server
12 個工具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200400"/>
            <a:ext cx="3931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每個 server 自帶一組工具與 schema;</a:t>
            </a:r>
          </a:p>
          <a:p>
            <a:pPr algn="l"/>
            <a:r>
              <a:rPr sz="115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代理可同時掛很多 server。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4279392"/>
            <a:ext cx="1554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C2410C"/>
                </a:solidFill>
                <a:latin typeface="Microsoft JhengHei"/>
                <a:ea typeface="Microsoft JhengHei"/>
                <a:cs typeface="Microsoft JhengHei"/>
              </a:rPr>
              <a:t>…社群已達數千個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169164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比傳統 API 檢索多三個難點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0" y="2194560"/>
            <a:ext cx="5074920" cy="822960"/>
          </a:xfrm>
          <a:prstGeom prst="roundRect">
            <a:avLst>
              <a:gd name="adj" fmla="val 10000"/>
            </a:avLst>
          </a:prstGeom>
          <a:solidFill>
            <a:srgbClr val="FFED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66560" y="2286000"/>
            <a:ext cx="47548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C2410C"/>
                </a:solidFill>
                <a:latin typeface="Microsoft JhengHei"/>
                <a:ea typeface="Microsoft JhengHei"/>
                <a:cs typeface="Microsoft JhengHei"/>
              </a:rPr>
              <a:t>動態上下架</a:t>
            </a:r>
          </a:p>
          <a:p>
            <a:pPr algn="l"/>
            <a:r>
              <a:rPr sz="115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server 隨時安裝/更新/移除 → 訓練死的檢索器馬上過期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0" y="3154680"/>
            <a:ext cx="5074920" cy="822960"/>
          </a:xfrm>
          <a:prstGeom prst="roundRect">
            <a:avLst>
              <a:gd name="adj" fmla="val 10000"/>
            </a:avLst>
          </a:prstGeom>
          <a:solidFill>
            <a:srgbClr val="FFED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0" y="3246120"/>
            <a:ext cx="47548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C2410C"/>
                </a:solidFill>
                <a:latin typeface="Microsoft JhengHei"/>
                <a:ea typeface="Microsoft JhengHei"/>
                <a:cs typeface="Microsoft JhengHei"/>
              </a:rPr>
              <a:t>跨 server 路由</a:t>
            </a:r>
          </a:p>
          <a:p>
            <a:pPr algn="l"/>
            <a:r>
              <a:rPr sz="115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先挑對 server、再挑裡面的工具(兩層決策)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0" y="4114800"/>
            <a:ext cx="5074920" cy="822960"/>
          </a:xfrm>
          <a:prstGeom prst="roundRect">
            <a:avLst>
              <a:gd name="adj" fmla="val 10000"/>
            </a:avLst>
          </a:prstGeom>
          <a:solidFill>
            <a:srgbClr val="FFED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66560" y="4206240"/>
            <a:ext cx="47548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C2410C"/>
                </a:solidFill>
                <a:latin typeface="Microsoft JhengHei"/>
                <a:ea typeface="Microsoft JhengHei"/>
                <a:cs typeface="Microsoft JhengHei"/>
              </a:rPr>
              <a:t>Schema 異質 + 規模</a:t>
            </a:r>
          </a:p>
          <a:p>
            <a:pPr algn="l"/>
            <a:r>
              <a:rPr sz="115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描述品質參差;千級工具讓單層向量索引開始退化(RAG-MCP 自承)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4892040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5029200"/>
            <a:ext cx="106984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現況檢查(MCP-Universe,Salesforce 2025;231 個真實 server 任務):GPT-5 成功率 43.72%、Grok-4 33.33%、Claude-4-Sonnet 29.44%。</a:t>
            </a:r>
          </a:p>
          <a:p>
            <a:pPr algn="l"/>
            <a:r>
              <a:rPr sz="1300" b="1">
                <a:solidFill>
                  <a:srgbClr val="C2410C"/>
                </a:solidFill>
                <a:latin typeface="Microsoft JhengHei"/>
                <a:ea typeface="Microsoft JhengHei"/>
                <a:cs typeface="Microsoft JhengHei"/>
              </a:rPr>
              <a:t>→ 最強模型也 fail 過半;長上下文與「陌生工具」是兩大主因 —— 檢索/選擇仍是核心瓶頸。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出處:MCP-Universe (arXiv:2508.14704)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92840" y="6473952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C2410C"/>
                </a:solidFill>
                <a:latin typeface="Microsoft JhengHei"/>
                <a:ea typeface="Microsoft JhengHei"/>
                <a:cs typeface="Microsoft JhengHei"/>
              </a:rPr>
              <a:t>MCP 專區(2/2)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三種 MCP 工具檢索方案(都免訓練,2025)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21207" y="1298448"/>
            <a:ext cx="1051560" cy="41148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554480"/>
            <a:ext cx="3611880" cy="4572000"/>
          </a:xfrm>
          <a:prstGeom prst="roundRect">
            <a:avLst>
              <a:gd name="adj" fmla="val 10000"/>
            </a:avLst>
          </a:prstGeom>
          <a:solidFill>
            <a:srgbClr val="FFED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3611880" cy="566928"/>
          </a:xfrm>
          <a:prstGeom prst="roundRect">
            <a:avLst>
              <a:gd name="adj" fmla="val 1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09344"/>
            <a:ext cx="3337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先檢索再給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240280"/>
            <a:ext cx="32918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RAG-MCP(arXiv:2505.03275)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• 所有 MCP 工具 schema 建向量索引;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• 查詢先撈最相關幾個,只把它們給 LLM。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3840480"/>
            <a:ext cx="324612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950208"/>
            <a:ext cx="3063239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C2410C"/>
                </a:solidFill>
                <a:latin typeface="Microsoft JhengHei"/>
                <a:ea typeface="Microsoft JhengHei"/>
                <a:cs typeface="Microsoft JhengHei"/>
              </a:rPr>
              <a:t>43.13%</a:t>
            </a:r>
          </a:p>
          <a:p>
            <a:pPr algn="ctr"/>
            <a:r>
              <a:rPr sz="115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選對率(vs 全塞 13.62%)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4754880"/>
            <a:ext cx="324612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864608"/>
            <a:ext cx="3063239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C2410C"/>
                </a:solidFill>
                <a:latin typeface="Microsoft JhengHei"/>
                <a:ea typeface="Microsoft JhengHei"/>
                <a:cs typeface="Microsoft JhengHei"/>
              </a:rPr>
              <a:t>−50%+</a:t>
            </a:r>
          </a:p>
          <a:p>
            <a:pPr algn="ctr"/>
            <a:r>
              <a:rPr sz="115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提示 tokens(1,084 vs 2,134)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687568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弱點:千級工具時檢索精度與吞吐退化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554480"/>
            <a:ext cx="3611880" cy="4572000"/>
          </a:xfrm>
          <a:prstGeom prst="roundRect">
            <a:avLst>
              <a:gd name="adj" fmla="val 10000"/>
            </a:avLst>
          </a:prstGeom>
          <a:solidFill>
            <a:srgbClr val="FFED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297680" y="1554480"/>
            <a:ext cx="3611880" cy="566928"/>
          </a:xfrm>
          <a:prstGeom prst="roundRect">
            <a:avLst>
              <a:gd name="adj" fmla="val 1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34840" y="1609344"/>
            <a:ext cx="3337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模型主動開口要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240280"/>
            <a:ext cx="32918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MCP-Zero(arXiv:2506.01056)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• LLM 自己生成「我需要能做 X 的工具」請求;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• 兩層語意路由:先配 server、再配工具;邊做邊要、逐步組工具鏈。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80560" y="3840480"/>
            <a:ext cx="324612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3950208"/>
            <a:ext cx="3063239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C2410C"/>
                </a:solidFill>
                <a:latin typeface="Microsoft JhengHei"/>
                <a:ea typeface="Microsoft JhengHei"/>
                <a:cs typeface="Microsoft JhengHei"/>
              </a:rPr>
              <a:t>−98%</a:t>
            </a:r>
          </a:p>
          <a:p>
            <a:pPr algn="ctr"/>
            <a:r>
              <a:rPr sz="115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token 消耗(APIBank)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80560" y="4754880"/>
            <a:ext cx="324612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864608"/>
            <a:ext cx="3063239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C2410C"/>
                </a:solidFill>
                <a:latin typeface="Microsoft JhengHei"/>
                <a:ea typeface="Microsoft JhengHei"/>
                <a:cs typeface="Microsoft JhengHei"/>
              </a:rPr>
              <a:t>~3k 工具</a:t>
            </a:r>
          </a:p>
          <a:p>
            <a:pPr algn="ctr"/>
            <a:r>
              <a:rPr sz="115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248.1k tokens 描述中準確選中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5687568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附帶發布 MCP-tools 資料集(308 server / 2,797 工具)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92440" y="1554480"/>
            <a:ext cx="3611880" cy="4572000"/>
          </a:xfrm>
          <a:prstGeom prst="roundRect">
            <a:avLst>
              <a:gd name="adj" fmla="val 10000"/>
            </a:avLst>
          </a:prstGeom>
          <a:solidFill>
            <a:srgbClr val="FFED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92440" y="1554480"/>
            <a:ext cx="3611880" cy="566928"/>
          </a:xfrm>
          <a:prstGeom prst="roundRect">
            <a:avLst>
              <a:gd name="adj" fmla="val 1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1609344"/>
            <a:ext cx="3337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檢索本身也是工具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5320" y="2240280"/>
            <a:ext cx="32918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ScaleMCP(arXiv:2505.06416)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• 給代理一個「MCP 檢索工具」,自主呼叫並把結果加進記憶;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• 索引與 server 用 CRUD 自動同步;TDWA 加權嵌入。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75320" y="3840480"/>
            <a:ext cx="324612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66760" y="3950208"/>
            <a:ext cx="3063239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C2410C"/>
                </a:solidFill>
                <a:latin typeface="Microsoft JhengHei"/>
                <a:ea typeface="Microsoft JhengHei"/>
                <a:cs typeface="Microsoft JhengHei"/>
              </a:rPr>
              <a:t>5,000</a:t>
            </a:r>
          </a:p>
          <a:p>
            <a:pPr algn="ctr"/>
            <a:r>
              <a:rPr sz="115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自建金融 MCP server 測試集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75320" y="4754880"/>
            <a:ext cx="324612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66760" y="4864608"/>
            <a:ext cx="3063239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C2410C"/>
                </a:solidFill>
                <a:latin typeface="Microsoft JhengHei"/>
                <a:ea typeface="Microsoft JhengHei"/>
                <a:cs typeface="Microsoft JhengHei"/>
              </a:rPr>
              <a:t>10×5×5</a:t>
            </a:r>
          </a:p>
          <a:p>
            <a:pPr algn="ctr"/>
            <a:r>
              <a:rPr sz="115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LLM×嵌入×檢索器 全面提升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20" y="5687568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重點:工具庫是「活的」,索引要持續同步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473952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/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92840" y="6473952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Benchmark(1/2)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通用工具檢索 / 工具使用的「考卷」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21207" y="1298448"/>
            <a:ext cx="1051560" cy="4114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554480"/>
          <a:ext cx="11201400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286000"/>
                <a:gridCol w="6537960"/>
              </a:tblGrid>
              <a:tr h="42394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Benchmark</a:t>
                      </a:r>
                    </a:p>
                  </a:txBody>
                  <a:tcPr marL="73152" marR="45720" marT="18288" marB="18288">
                    <a:solidFill>
                      <a:srgbClr val="17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Venue</a:t>
                      </a:r>
                    </a:p>
                  </a:txBody>
                  <a:tcPr marL="73152" marR="45720" marT="18288" marB="18288">
                    <a:solidFill>
                      <a:srgbClr val="17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一句話:它考什麼 / 關鍵發現</a:t>
                      </a:r>
                    </a:p>
                  </a:txBody>
                  <a:tcPr marL="73152" marR="45720" marT="18288" marB="18288">
                    <a:solidFill>
                      <a:srgbClr val="172A4A"/>
                    </a:solidFill>
                  </a:tcPr>
                </a:tc>
              </a:tr>
              <a:tr h="423949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F2937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ToolBench / ToolEval</a:t>
                      </a:r>
                    </a:p>
                  </a:txBody>
                  <a:tcPr marL="73152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ICLR 2024 (Spotlight)</a:t>
                      </a:r>
                    </a:p>
                  </a:txBody>
                  <a:tcPr marL="73152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16,464 個真實 API;檢索 NDCG + 端到端通過率;多工具比單工具難</a:t>
                      </a:r>
                    </a:p>
                  </a:txBody>
                  <a:tcPr marL="73152" marR="45720" marT="18288" marB="18288">
                    <a:solidFill>
                      <a:srgbClr val="FFFFFF"/>
                    </a:solidFill>
                  </a:tcPr>
                </a:tc>
              </a:tr>
              <a:tr h="423949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F2937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API-Bank</a:t>
                      </a:r>
                    </a:p>
                  </a:txBody>
                  <a:tcPr marL="73152" marR="45720" marT="18288" marB="18288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EMNLP 2023</a:t>
                      </a:r>
                    </a:p>
                  </a:txBody>
                  <a:tcPr marL="73152" marR="45720" marT="18288" marB="18288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73 API、753 呼叫;三層能力:直接呼叫 / 先檢索再呼叫 / 先規劃再檢索呼叫</a:t>
                      </a:r>
                    </a:p>
                  </a:txBody>
                  <a:tcPr marL="73152" marR="45720" marT="18288" marB="18288">
                    <a:solidFill>
                      <a:srgbClr val="F3F4F6"/>
                    </a:solidFill>
                  </a:tcPr>
                </a:tc>
              </a:tr>
              <a:tr h="423949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F2937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ToolQA</a:t>
                      </a:r>
                    </a:p>
                  </a:txBody>
                  <a:tcPr marL="73152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NeurIPS 2023 (D&amp;B)</a:t>
                      </a:r>
                    </a:p>
                  </a:txBody>
                  <a:tcPr marL="73152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只看最終答案對不對 —— 把工具能力化約成可驗證的 QA</a:t>
                      </a:r>
                    </a:p>
                  </a:txBody>
                  <a:tcPr marL="73152" marR="45720" marT="18288" marB="18288">
                    <a:solidFill>
                      <a:srgbClr val="FFFFFF"/>
                    </a:solidFill>
                  </a:tcPr>
                </a:tc>
              </a:tr>
              <a:tr h="423949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F2937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MetaTool</a:t>
                      </a:r>
                    </a:p>
                  </a:txBody>
                  <a:tcPr marL="73152" marR="45720" marT="18288" marB="18288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ICLR 2024</a:t>
                      </a:r>
                    </a:p>
                  </a:txBody>
                  <a:tcPr marL="73152" marR="45720" marT="18288" marB="18288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21,127 查詢;先考「該不該用工具」:零樣本覺察 F1 僅 ChatGPT &gt;70%,最低 11.53%</a:t>
                      </a:r>
                    </a:p>
                  </a:txBody>
                  <a:tcPr marL="73152" marR="45720" marT="18288" marB="18288">
                    <a:solidFill>
                      <a:srgbClr val="F3F4F6"/>
                    </a:solidFill>
                  </a:tcPr>
                </a:tc>
              </a:tr>
              <a:tr h="423949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F2937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TaskBench</a:t>
                      </a:r>
                    </a:p>
                  </a:txBody>
                  <a:tcPr marL="73152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NeurIPS 2024 (D&amp;B)</a:t>
                      </a:r>
                    </a:p>
                  </a:txBody>
                  <a:tcPr marL="73152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畫「工具呼叫圖」:連邊(依賴)比選點(工具)難約 30% F1</a:t>
                      </a:r>
                    </a:p>
                  </a:txBody>
                  <a:tcPr marL="73152" marR="45720" marT="18288" marB="18288">
                    <a:solidFill>
                      <a:srgbClr val="FFFFFF"/>
                    </a:solidFill>
                  </a:tcPr>
                </a:tc>
              </a:tr>
              <a:tr h="423949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F2937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StableToolBench</a:t>
                      </a:r>
                    </a:p>
                  </a:txBody>
                  <a:tcPr marL="73152" marR="45720" marT="18288" marB="18288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Findings of ACL 2024</a:t>
                      </a:r>
                    </a:p>
                  </a:txBody>
                  <a:tcPr marL="73152" marR="45720" marT="18288" marB="18288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虛擬 API server(快取+模擬)解決真實 API 掛掉造成的評測漂移</a:t>
                      </a:r>
                    </a:p>
                  </a:txBody>
                  <a:tcPr marL="73152" marR="45720" marT="18288" marB="18288">
                    <a:solidFill>
                      <a:srgbClr val="F3F4F6"/>
                    </a:solidFill>
                  </a:tcPr>
                </a:tc>
              </a:tr>
              <a:tr h="423949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F2937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ToolRet</a:t>
                      </a:r>
                    </a:p>
                  </a:txBody>
                  <a:tcPr marL="73152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Findings of ACL 2025</a:t>
                      </a:r>
                    </a:p>
                  </a:txBody>
                  <a:tcPr marL="73152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第一個專測工具檢索:7.6k 任務/43k 工具;強 IR 模型也疲軟;附 200k 訓練集</a:t>
                      </a:r>
                    </a:p>
                  </a:txBody>
                  <a:tcPr marL="73152" marR="45720" marT="18288" marB="18288">
                    <a:solidFill>
                      <a:srgbClr val="FFFFFF"/>
                    </a:solidFill>
                  </a:tcPr>
                </a:tc>
              </a:tr>
              <a:tr h="423949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F2937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BFCL</a:t>
                      </a:r>
                    </a:p>
                  </a:txBody>
                  <a:tcPr marL="73152" marR="45720" marT="18288" marB="18288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ICML 2025</a:t>
                      </a:r>
                    </a:p>
                  </a:txBody>
                  <a:tcPr marL="73152" marR="45720" marT="18288" marB="18288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業界事實標準;AST 驗證 + 該拒就拒(irrelevance);V1→V4 持續演進</a:t>
                      </a:r>
                    </a:p>
                  </a:txBody>
                  <a:tcPr marL="73152" marR="45720" marT="18288" marB="18288">
                    <a:solidFill>
                      <a:srgbClr val="F3F4F6"/>
                    </a:solidFill>
                  </a:tcPr>
                </a:tc>
              </a:tr>
              <a:tr h="423949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F2937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τ-bench / τ²-bench</a:t>
                      </a:r>
                    </a:p>
                  </a:txBody>
                  <a:tcPr marL="73152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arXiv 2024/2025</a:t>
                      </a:r>
                    </a:p>
                  </a:txBody>
                  <a:tcPr marL="73152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模擬使用者多輪互動;pass^k:GPT-4o 級 &lt;50%,retail 連續 8 次全對 &lt;25%</a:t>
                      </a:r>
                    </a:p>
                  </a:txBody>
                  <a:tcPr marL="73152" marR="45720" marT="18288" marB="18288">
                    <a:solidFill>
                      <a:srgbClr val="FFFFFF"/>
                    </a:solidFill>
                  </a:tcPr>
                </a:tc>
              </a:tr>
              <a:tr h="42395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F2937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Seal-Tools</a:t>
                      </a:r>
                    </a:p>
                  </a:txBody>
                  <a:tcPr marL="73152" marR="45720" marT="18288" marB="18288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NLPCC 2024</a:t>
                      </a:r>
                    </a:p>
                  </a:txBody>
                  <a:tcPr marL="73152" marR="45720" marT="18288" marB="18288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大規模 self-instruct 工具資料,含嵌套呼叫;檢索論文常用評測集</a:t>
                      </a:r>
                    </a:p>
                  </a:txBody>
                  <a:tcPr marL="73152" marR="45720" marT="18288" marB="18288"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473952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73952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C2410C"/>
                </a:solidFill>
                <a:latin typeface="Microsoft JhengHei"/>
                <a:ea typeface="Microsoft JhengHei"/>
                <a:cs typeface="Microsoft JhengHei"/>
              </a:rPr>
              <a:t>Benchmark(2/2)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MCP 專屬考卷(皆 2025,arXiv)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21207" y="1298448"/>
            <a:ext cx="1051560" cy="41148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554480"/>
          <a:ext cx="112014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834640"/>
                <a:gridCol w="5257800"/>
              </a:tblGrid>
              <a:tr h="5029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Benchmark</a:t>
                      </a:r>
                    </a:p>
                  </a:txBody>
                  <a:tcPr marL="73152" marR="45720" marT="18288" marB="18288">
                    <a:solidFill>
                      <a:srgbClr val="C2410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規模</a:t>
                      </a:r>
                    </a:p>
                  </a:txBody>
                  <a:tcPr marL="73152" marR="45720" marT="18288" marB="18288">
                    <a:solidFill>
                      <a:srgbClr val="C2410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考什麼 / 關鍵數字</a:t>
                      </a:r>
                    </a:p>
                  </a:txBody>
                  <a:tcPr marL="73152" marR="45720" marT="18288" marB="18288">
                    <a:solidFill>
                      <a:srgbClr val="C2410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F2937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MCP-Universe(Salesforce)</a:t>
                      </a:r>
                    </a:p>
                  </a:txBody>
                  <a:tcPr marL="73152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11 真實 server、6 域、231 任務</a:t>
                      </a:r>
                    </a:p>
                  </a:txBody>
                  <a:tcPr marL="73152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端到端真任務執行評分;GPT-5 43.72%、Grok-4 33.33%、Claude-4-Sonnet 29.44%</a:t>
                      </a:r>
                    </a:p>
                  </a:txBody>
                  <a:tcPr marL="73152" marR="45720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F2937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MCP-Bench(Accenture)</a:t>
                      </a:r>
                    </a:p>
                  </a:txBody>
                  <a:tcPr marL="73152" marR="45720" marT="18288" marB="18288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28 個 live server、250 工具</a:t>
                      </a:r>
                    </a:p>
                  </a:txBody>
                  <a:tcPr marL="73152" marR="45720" marT="18288" marB="18288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模糊指令(不給工具名)下的檢索+多跳規劃+跨域編排</a:t>
                      </a:r>
                    </a:p>
                  </a:txBody>
                  <a:tcPr marL="73152" marR="45720" marT="18288" marB="18288"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F2937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LiveMCPBench</a:t>
                      </a:r>
                    </a:p>
                  </a:txBody>
                  <a:tcPr marL="73152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70 server、527 工具、95 任務</a:t>
                      </a:r>
                    </a:p>
                  </a:txBody>
                  <a:tcPr marL="73152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工具海裡的日常任務;最佳 Claude-Sonnet-4 78.95%,模型間差異巨大</a:t>
                      </a:r>
                    </a:p>
                  </a:txBody>
                  <a:tcPr marL="73152" marR="45720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F2937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MCPToolBench++(Ant Group)</a:t>
                      </a:r>
                    </a:p>
                  </a:txBody>
                  <a:tcPr marL="73152" marR="45720" marT="18288" marB="18288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4,000+ server 池;1,500+ 查詢</a:t>
                      </a:r>
                    </a:p>
                  </a:txBody>
                  <a:tcPr marL="73152" marR="45720" marT="18288" marB="18288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單步與多跳;結構對了,參數不合/API 特異性仍常讓執行失敗</a:t>
                      </a:r>
                    </a:p>
                  </a:txBody>
                  <a:tcPr marL="73152" marR="45720" marT="18288" marB="18288"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F2937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MCP-tools(MCP-Zero 附帶)</a:t>
                      </a:r>
                    </a:p>
                  </a:txBody>
                  <a:tcPr marL="73152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308 server、2,797 工具</a:t>
                      </a:r>
                    </a:p>
                  </a:txBody>
                  <a:tcPr marL="73152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MCP 工具檢索語料庫(給檢索方法練/測)</a:t>
                      </a:r>
                    </a:p>
                  </a:txBody>
                  <a:tcPr marL="73152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02920" y="4892040"/>
            <a:ext cx="3474720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5001768"/>
            <a:ext cx="3291839" cy="9692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C2410C"/>
                </a:solidFill>
                <a:latin typeface="Microsoft JhengHei"/>
                <a:ea typeface="Microsoft JhengHei"/>
                <a:cs typeface="Microsoft JhengHei"/>
              </a:rPr>
              <a:t>43.72%</a:t>
            </a:r>
          </a:p>
          <a:p>
            <a:pPr algn="ctr"/>
            <a:r>
              <a:rPr sz="115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GPT-5 在 MCP-Universe 的成功率
(最強模型也 fail 過半)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4983480"/>
            <a:ext cx="74066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共同訊息:MCP 時代的評測全面走向「真 server、真執行、端到端」;</a:t>
            </a:r>
          </a:p>
          <a:p>
            <a:pPr algn="l"/>
            <a:r>
              <a:rPr sz="1300" b="1">
                <a:solidFill>
                  <a:srgbClr val="C2410C"/>
                </a:solidFill>
                <a:latin typeface="Microsoft JhengHei"/>
                <a:ea typeface="Microsoft JhengHei"/>
                <a:cs typeface="Microsoft JhengHei"/>
              </a:rPr>
              <a:t>而「找到對的工具」是所有這些 benchmark 裡反覆出現的失敗模式。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另有 MCPEval、MCP-RADAR、LiveMCP-101 等評測框架(2025 arXiv)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總結(1/2)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讀完 30 篇論文的五條主線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21207" y="1298448"/>
            <a:ext cx="1051560" cy="4114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554480"/>
            <a:ext cx="11201400" cy="822960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566928" cy="822960"/>
          </a:xfrm>
          <a:prstGeom prst="roundRect">
            <a:avLst>
              <a:gd name="adj" fmla="val 1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554480"/>
            <a:ext cx="566928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627632"/>
            <a:ext cx="1033272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50" b="1">
                <a:solidFill>
                  <a:srgbClr val="2563EB"/>
                </a:solidFill>
                <a:latin typeface="Microsoft JhengHei"/>
                <a:ea typeface="Microsoft JhengHei"/>
                <a:cs typeface="Microsoft JhengHei"/>
              </a:rPr>
              <a:t>會找文件 ≠ 會找工具</a:t>
            </a:r>
          </a:p>
          <a:p>
            <a:pPr algn="l"/>
            <a:r>
              <a:rPr sz="115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傳統 IR 強者到工具檢索普遍疲軟(ToolRet);「相關」=能把任務做完,需要工具特化訓練。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487168"/>
            <a:ext cx="11201400" cy="822960"/>
          </a:xfrm>
          <a:prstGeom prst="roundRect">
            <a:avLst>
              <a:gd name="adj" fmla="val 10000"/>
            </a:avLst>
          </a:prstGeom>
          <a:solidFill>
            <a:srgbClr val="D5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2487168"/>
            <a:ext cx="566928" cy="822960"/>
          </a:xfrm>
          <a:prstGeom prst="roundRect">
            <a:avLst>
              <a:gd name="adj" fmla="val 10000"/>
            </a:avLst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487168"/>
            <a:ext cx="566928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560320"/>
            <a:ext cx="1033272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50" b="1">
                <a:solidFill>
                  <a:srgbClr val="0E7C7B"/>
                </a:solidFill>
                <a:latin typeface="Microsoft JhengHei"/>
                <a:ea typeface="Microsoft JhengHei"/>
                <a:cs typeface="Microsoft JhengHei"/>
              </a:rPr>
              <a:t>省 token = 提準確</a:t>
            </a:r>
          </a:p>
          <a:p>
            <a:pPr algn="l"/>
            <a:r>
              <a:rPr sz="115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候選越少越乾淨:RAG-MCP 13.62%→43.13%;EasyTool −70%、DTDR −73% 提示長度。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419856"/>
            <a:ext cx="11201400" cy="822960"/>
          </a:xfrm>
          <a:prstGeom prst="roundRect">
            <a:avLst>
              <a:gd name="adj" fmla="val 10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02920" y="3419856"/>
            <a:ext cx="566928" cy="822960"/>
          </a:xfrm>
          <a:prstGeom prst="roundRect">
            <a:avLst>
              <a:gd name="adj" fmla="val 1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419856"/>
            <a:ext cx="566928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493008"/>
            <a:ext cx="1033272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50" b="1">
                <a:solidFill>
                  <a:srgbClr val="7C3AED"/>
                </a:solidFill>
                <a:latin typeface="Microsoft JhengHei"/>
                <a:ea typeface="Microsoft JhengHei"/>
                <a:cs typeface="Microsoft JhengHei"/>
              </a:rPr>
              <a:t>訊號一路升級</a:t>
            </a:r>
          </a:p>
          <a:p>
            <a:pPr algn="l"/>
            <a:r>
              <a:rPr sz="115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語意相似 → 湊齊一套(COLT)→ 工具依賴(TGR/ToolNet)→ 呼叫歷史(DTDR)。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352544"/>
            <a:ext cx="11201400" cy="82296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4352544"/>
            <a:ext cx="566928" cy="822960"/>
          </a:xfrm>
          <a:prstGeom prst="roundRect">
            <a:avLst>
              <a:gd name="adj" fmla="val 1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4352544"/>
            <a:ext cx="566928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4425696"/>
            <a:ext cx="1033272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50" b="1">
                <a:solidFill>
                  <a:srgbClr val="D97706"/>
                </a:solidFill>
                <a:latin typeface="Microsoft JhengHei"/>
                <a:ea typeface="Microsoft JhengHei"/>
                <a:cs typeface="Microsoft JhengHei"/>
              </a:rPr>
              <a:t>生成式正面挑戰外掛檢索器</a:t>
            </a:r>
          </a:p>
          <a:p>
            <a:pPr algn="l"/>
            <a:r>
              <a:rPr sz="115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工具=詞元:ToolGen 47k 工具贏過訓練雙塔;Octopus 端側 99.5%/0.38s。代價:工具變動要動模型。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285232"/>
            <a:ext cx="11201400" cy="822960"/>
          </a:xfrm>
          <a:prstGeom prst="roundRect">
            <a:avLst>
              <a:gd name="adj" fmla="val 10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02920" y="5285232"/>
            <a:ext cx="566928" cy="822960"/>
          </a:xfrm>
          <a:prstGeom prst="roundRect">
            <a:avLst>
              <a:gd name="adj" fmla="val 1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5285232"/>
            <a:ext cx="566928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4440" y="5358384"/>
            <a:ext cx="1033272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50" b="1">
                <a:solidFill>
                  <a:srgbClr val="059669"/>
                </a:solidFill>
                <a:latin typeface="Microsoft JhengHei"/>
                <a:ea typeface="Microsoft JhengHei"/>
                <a:cs typeface="Microsoft JhengHei"/>
              </a:rPr>
              <a:t>檢索器與呼叫端要一起設計;MCP 把一切放大</a:t>
            </a:r>
          </a:p>
          <a:p>
            <a:pPr algn="l"/>
            <a:r>
              <a:rPr sz="1150" b="0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Gorilla 訓練時就餵檢索文件、Hammer 學會拒答;MCP 的動態生態催生主動請求(MCP-Zero)與自動同步(ScaleMCP)。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73952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92840" y="6473952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總結(2/2)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所以我該用哪一派?(情境速查)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21207" y="1298448"/>
            <a:ext cx="1051560" cy="4114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554480"/>
          <a:ext cx="1120140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4206240"/>
                <a:gridCol w="3703320"/>
              </a:tblGrid>
              <a:tr h="56007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你的情境</a:t>
                      </a:r>
                    </a:p>
                  </a:txBody>
                  <a:tcPr marL="73152" marR="45720" marT="27432" marB="27432">
                    <a:solidFill>
                      <a:srgbClr val="17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建議</a:t>
                      </a:r>
                    </a:p>
                  </a:txBody>
                  <a:tcPr marL="73152" marR="45720" marT="27432" marB="27432">
                    <a:solidFill>
                      <a:srgbClr val="17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為什麼</a:t>
                      </a:r>
                    </a:p>
                  </a:txBody>
                  <a:tcPr marL="73152" marR="45720" marT="27432" marB="27432">
                    <a:solidFill>
                      <a:srgbClr val="172A4A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937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工具 &lt;50、想快速上線、沒標註資料</a:t>
                      </a:r>
                    </a:p>
                  </a:txBody>
                  <a:tcPr marL="73152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現成向量 + Re-Invoke 式改寫 / EasyTool 清洗文件</a:t>
                      </a:r>
                    </a:p>
                  </a:txBody>
                  <a:tcPr marL="73152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零訓練;nDCG 相對 +20~39% 唾手可得</a:t>
                      </a:r>
                    </a:p>
                  </a:txBody>
                  <a:tcPr marL="73152" marR="45720" marT="27432" marB="27432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937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有示範軌跡、追求準確</a:t>
                      </a:r>
                    </a:p>
                  </a:txBody>
                  <a:tcPr marL="73152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訓雙塔(ToolLLM 式)或用 ToolRet-train 補課;多工具任務加 COLT 完整性思路</a:t>
                      </a:r>
                    </a:p>
                  </a:txBody>
                  <a:tcPr marL="73152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訓練檢索器仍是性價比之王</a:t>
                      </a:r>
                    </a:p>
                  </a:txBody>
                  <a:tcPr marL="73152" marR="45720" marT="27432" marB="27432">
                    <a:solidFill>
                      <a:srgbClr val="F3F4F6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937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多步代理任務(工具會連著用)</a:t>
                      </a:r>
                    </a:p>
                  </a:txBody>
                  <a:tcPr marL="73152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歷史感知檢索(DTDR)+ 依賴圖(TGR/ToolNet)</a:t>
                      </a:r>
                    </a:p>
                  </a:txBody>
                  <a:tcPr marL="73152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「已呼叫什麼」是下一步最強訊號;成功率 +23~104%</a:t>
                      </a:r>
                    </a:p>
                  </a:txBody>
                  <a:tcPr marL="73152" marR="45720" marT="27432" marB="27432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937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端側 / 私有部署、資源受限</a:t>
                      </a:r>
                    </a:p>
                  </a:txBody>
                  <a:tcPr marL="73152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TinyAgent 分類器、Hammer 遮罩微調、Octopus 詞元化</a:t>
                      </a:r>
                    </a:p>
                  </a:txBody>
                  <a:tcPr marL="73152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小模型即可達 GPT-4 級函式呼叫</a:t>
                      </a:r>
                    </a:p>
                  </a:txBody>
                  <a:tcPr marL="73152" marR="45720" marT="27432" marB="27432">
                    <a:solidFill>
                      <a:srgbClr val="F3F4F6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937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工具固定、要極致延遲</a:t>
                      </a:r>
                    </a:p>
                  </a:txBody>
                  <a:tcPr marL="73152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生成式(ToolGen / functional tokens)</a:t>
                      </a:r>
                    </a:p>
                  </a:txBody>
                  <a:tcPr marL="73152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免外掛檢索、上下文最省、0.38s/呼叫</a:t>
                      </a:r>
                    </a:p>
                  </a:txBody>
                  <a:tcPr marL="73152" marR="45720" marT="27432" marB="27432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937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MCP 生態、工具動態增減</a:t>
                      </a:r>
                    </a:p>
                  </a:txBody>
                  <a:tcPr marL="73152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RAG-MCP 起步 → 規模大改 MCP-Zero / ScaleMCP</a:t>
                      </a:r>
                    </a:p>
                  </a:txBody>
                  <a:tcPr marL="73152" marR="45720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免重訓、索引隨 server 自動演化</a:t>
                      </a:r>
                    </a:p>
                  </a:txBody>
                  <a:tcPr marL="73152" marR="45720" marT="27432" marB="27432">
                    <a:solidFill>
                      <a:srgbClr val="F3F4F6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937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怕模型亂呼叫</a:t>
                      </a:r>
                    </a:p>
                  </a:txBody>
                  <a:tcPr marL="73152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訓練加無關性樣本(Hammer);評測掛 BFCL irrelevance</a:t>
                      </a:r>
                    </a:p>
                  </a:txBody>
                  <a:tcPr marL="73152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「該拒就拒」是一級能力</a:t>
                      </a:r>
                    </a:p>
                  </a:txBody>
                  <a:tcPr marL="73152" marR="45720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473952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73952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參考文獻(1/2)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21207" y="1298448"/>
            <a:ext cx="1051560" cy="4114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08760"/>
            <a:ext cx="11201400" cy="4937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【三大 ML 會議】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[1] Qin, Y., et al. ToolLLM: Facilitating Large Language Models to Master 16000+ Real-world APIs. In ICLR 2024 (Spotlight).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[2] Schick, T., et al. Toolformer: Language Models Can Teach Themselves to Use Tools. In NeurIPS 2023.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[3] Hao, S., Liu, T., Wang, Z., Hu, Z. ToolkenGPT: Augmenting Frozen Language Models with Massive Tools via Tool Embeddings. In NeurIPS 2023 (Oral).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[4] Patil, S. G., Zhang, T., Wang, X., Gonzalez, J. E. Gorilla: Large Language Model Connected with Massive APIs. In NeurIPS 2024.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[5] Wang, R., et al. ToolGen: Unified Tool Retrieval and Calling via Generation. In ICLR 2025.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[6] Du, Y., Wei, F., Zhang, H. AnyTool: Self-Reflective, Hierarchical Agents for Large-Scale API Calls. In ICML 2024.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[7] Lin, Q., et al. Hammer: Robust Function-Calling for On-Device Language Models via Function Masking. In ICLR 2025 (Spotlight).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[8] Liu, W., et al. ToolACE: Winning the Points of LLM Function Calling. In ICLR 2025.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[9] Patil, S. G., et al. The Berkeley Function Calling Leaderboard (BFCL): From Tool Use to Agentic Evaluation of LLMs. In ICML 2025.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[10] Huang, Y., et al. MetaTool Benchmark for Large Language Models: Deciding Whether to Use Tools and Which to Use. In ICLR 2024.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[11] Shen, Y., et al. TaskBench: Benchmarking Large Language Models for Task Automation. In NeurIPS 2024 (Datasets &amp; Benchmarks).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[12] Zhuang, Y., et al. ToolQA: A Dataset for LLM Question Answering with External Tools. In NeurIPS 2023 (Datasets &amp; Benchmarks).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 </a:t>
            </a:r>
          </a:p>
          <a:p>
            <a:pPr algn="l">
              <a:spcAft>
                <a:spcPts val="300"/>
              </a:spcAft>
            </a:pPr>
            <a:r>
              <a:rPr sz="1250" b="1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【ACL 系與其他一級會議】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[13] Qu, C., et al. Towards Completeness-Oriented Tool Retrieval for Large Language Models (COLT). In CIKM 2024.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[14] Chen, Y., et al. Re-Invoke: Tool Invocation Rewriting for Zero-Shot Tool Retrieval. In Findings of EMNLP 2024.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[15] Zheng, Y., et al. ToolRerank: Adaptive and Hierarchy-Aware Reranking for Tool Retrieval. In LREC-COLING 2024.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[16] Erdogan, L. E., et al. TinyAgent: Function Calling at the Edge. In EMNLP 2024 (System Demonstrations).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73952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參考文獻(2/2)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21207" y="1298448"/>
            <a:ext cx="1051560" cy="4114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08760"/>
            <a:ext cx="11201400" cy="4937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[17] Yuan, S., et al. EasyTool: Enhancing LLM-based Agents with Concise Tool Instruction. In NAACL 2025.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[18] Shi, Z., et al. Retrieval Models Aren't Tool-Savvy: Benchmarking Tool Retrieval for LLMs (ToolRet). In Findings of ACL 2025.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[19] Li, M., et al. API-Bank: A Comprehensive Benchmark for Tool-Augmented LLMs. In EMNLP 2023.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[20] Guo, Z., et al. StableToolBench: Towards Stable Large-Scale Benchmarking on Tool Learning of LLMs. In Findings of ACL 2024.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[21] Wu, M., et al. Seal-Tools: Self-Instruct Tool Learning Dataset for Agent Tuning and Detailed Benchmark. In NLPCC 2024.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[22] Paramanayakam, V., et al. Less is More: Optimizing Function Calling for LLM Execution on Edge Devices. In DATE 2025.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[23] Lumer, E., et al. Toolshed: Scale Tool-Equipped Agents with Advanced RAG-Tool Fusion and Tool Knowledge Bases. In ICAART 2025.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[24] Liu, X., et al. ControlLLM: Augment Language Models with Tools by Searching on Graphs. In ECCV 2024.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 </a:t>
            </a:r>
          </a:p>
          <a:p>
            <a:pPr algn="l">
              <a:spcAft>
                <a:spcPts val="300"/>
              </a:spcAft>
            </a:pPr>
            <a:r>
              <a:rPr sz="1250" b="1">
                <a:solidFill>
                  <a:srgbClr val="1F2937"/>
                </a:solidFill>
                <a:latin typeface="Microsoft JhengHei"/>
                <a:ea typeface="Microsoft JhengHei"/>
                <a:cs typeface="Microsoft JhengHei"/>
              </a:rPr>
              <a:t>【arXiv(尚未見會議版)】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[25] Liu, X., et al. ToolNet: Connecting Large Language Models with Massive Tools via Tool Graph. arXiv:2403.00839, 2024.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[26] Gao, L., et al. Tool Graph Retriever: Exploring Dependency Graph-based Tool Retrieval for LLMs. arXiv:2508.05152, 2025.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[27] Patel, B., Belli, D., et al. Dynamic Tool Dependency Retrieval for Lightweight Function Calling. arXiv:2512.17052, 2025.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[28] Chen, W., Li, Z. Octopus v2: On-device Language Model for Super Agent. arXiv:2404.01744, 2024.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[29] Yao, S., et al. τ-bench: A Benchmark for Tool-Agent-User Interaction in Real-World Domains. arXiv:2406.12045, 2024.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[30] Gan, T., Sun, Q. RAG-MCP: Mitigating Prompt Bloat in LLM Tool Selection via RAG. arXiv:2505.03275, 2025.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[31] Fei, X., et al. MCP-Zero: Active Tool Discovery for Autonomous LLM Agents. arXiv:2506.01056, 2025.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[32] Lumer, E., et al. ScaleMCP: Dynamic and Auto-Synchronizing Model Context Protocol Tools for LLM Agents. arXiv:2505.06416, 2025.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[33] Luo, Z., et al. MCP-Universe: Benchmarking LLMs with Real-World Model Context Protocol Servers. arXiv:2508.14704, 2025.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[34] Wang, Z., et al. MCP-Bench: Benchmarking Tool-Using LLM Agents with Complex Real-World Tasks via MCP Servers. arXiv:2508.20453, 2025.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[35] Mo, G., et al. LiveMCPBench: Can Agents Navigate an Ocean of MCP Tools? arXiv:2508.01780, 2025.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[36] Fan, S., Ding, X., Zhang, L., Mo, L. MCPToolBench++: A Large Scale AI Agent MCP Tool Use Benchmark. arXiv:2508.07575, 2025.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73952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Microsoft JhengHei"/>
                <a:ea typeface="Microsoft JhengHei"/>
                <a:cs typeface="Microsoft JhengHei"/>
              </a:rPr>
              <a:t>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