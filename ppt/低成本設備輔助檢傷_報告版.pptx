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783080"/>
            <a:ext cx="102412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 × 如何結合主訴做判斷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8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並統整「相機 / App / 便宜設備」能測到哪些數值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8006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名詞速記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先解釋術語——後面不再出現沒說明的縮寫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核心概念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99339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檢傷 Triage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人手不足時，快速決定「誰先看」。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688336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生命徵象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心率·呼吸·血壓·體溫·血氧等基本讀數。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3383280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病人自己說哪裡不舒服（常一句話或勾選）。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078224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EHR 電子病歷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存放病人資料的系統。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4773168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能初步過篩，但不取代正式檢驗。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5468112"/>
            <a:ext cx="64008" cy="621792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醫療級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準確度接近正式醫療器材。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訊號與感測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9392" y="199339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6227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SpO₂ 血氧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血液帶氧百分比，低於 90% 危險。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939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79392" y="2688336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6227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用光看血液脈動（忽亮忽暗＝心跳）。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7939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79392" y="3383280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6227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rPPG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不碰身體、拍臉也能量的 PPG。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7939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79392" y="4078224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6227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OCR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讓相機「讀」出螢幕上的數字。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939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79392" y="4773168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227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HRV 心率變異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心跳間隔的變化，反映自律神經。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7939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279392" y="5468112"/>
            <a:ext cx="64008" cy="621792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6227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MUAC 上臂圍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量上臂一圈，看營養/病況。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45552" y="1463040"/>
            <a:ext cx="3383280" cy="402336"/>
          </a:xfrm>
          <a:prstGeom prst="roundRect">
            <a:avLst>
              <a:gd name="adj" fmla="val 12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與模型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45552" y="199339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45552" y="199339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28432" y="206654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從資料學出規則：吃數字 → 吐預測。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845552" y="2688336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45552" y="2688336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2" y="2761488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Logistic 回歸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幾個輸入加權 → 算出 0~100% 機率。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45552" y="3383280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45552" y="3383280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28432" y="3456432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CNN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擅長從影像/訊號抓特徵的神經網路。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845552" y="4078224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845552" y="4078224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028432" y="4151376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詞向量 embedding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把文字變數字，讓模型讀懂主訴。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845552" y="4773168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45552" y="4773168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28432" y="4846320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AUC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模型排序準不準：0.5 瞎猜～1 完美。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45552" y="5468112"/>
            <a:ext cx="3383280" cy="621792"/>
          </a:xfrm>
          <a:prstGeom prst="roundRect">
            <a:avLst>
              <a:gd name="adj" fmla="val 8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845552" y="5468112"/>
            <a:ext cx="64008" cy="621792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28432" y="5541264"/>
            <a:ext cx="3108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ESI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3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美國急診 5 級檢傷量表（傳統基準）。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3232" y="6236208"/>
            <a:ext cx="10744200" cy="38404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3232" y="6236208"/>
            <a:ext cx="91440" cy="38404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0976" y="6364224"/>
            <a:ext cx="103601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其他縮寫：CRT=微血管回填時間　·　PLR=瞳孔光反射　·　miniPIERS=一個孕婦風險模型　·　ratio-of-ratios=血氧計的比值算法。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只用相機 → 加 App → 加便宜設備，各能測到什麼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88720"/>
            <a:ext cx="10744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累加關係：每一層都包含前一層的能力，往下再多加。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600200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600200"/>
            <a:ext cx="118872" cy="14813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Lv1　只用相機（＋閃光）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任何手機 · 代表：論文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1764792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心率、血氧(篩檢)、呼吸；心房顫動、心率變異；OCR 讀既有裝置螢幕；影像篩檢：貧血·黃疸·微血管回填·瞳孔·非接觸臉部 rPPG。　（測不到體溫、血壓）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3191256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191256"/>
            <a:ext cx="118872" cy="14813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37560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Lv2　＋ App（麥克風·觸控·動作，仍無外接）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$0 · 純軟體 · 代表：論文 1·3·4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355848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Lv1 之上再加：咳嗽/呼吸音(麥克風)、呼吸速率(點按 RRate)、動作/步態(加速度計)，以及症狀自填 / 主訴輸入（← 讓「結合主訴」成真）。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782312"/>
            <a:ext cx="10744200" cy="1481328"/>
          </a:xfrm>
          <a:prstGeom prst="roundRect">
            <a:avLst>
              <a:gd name="adj" fmla="val 4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4782312"/>
            <a:ext cx="118872" cy="14813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28616"/>
            <a:ext cx="2880360" cy="12070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3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Lv3　＋ 便宜外接設備（&lt; NT$5000）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數十~數百美元 · 代表：論文 1·2·3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46904"/>
            <a:ext cx="73609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在 Lv2 之上再加：血氧/心率(醫療級·準，夾式血氧計)、體溫(紅外線計)、血壓(壓脈帶)、單導程心電圖(貼片)、尿蛋白/血糖(試紙)、上臂圍(量尺)。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代表 AI 論文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每個方法至少關聯一篇「結合 AI」的論文　·　Lv1 相機（含閃光）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10744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查證：已見原文＝在 GitHub 看到 arXiv 原始碼/作者程式碼；搜尋佐證＝論文真實、AI 用途有原頁引文，但全文 PDF 因本環境網路政策(egress)被擋、無法下載。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心率（指尖 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conv＋LSTM 回歸心率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3736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Samavati 2022, arXiv:2204.08989（MEDVSE）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04424" y="177393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3570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35708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7228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SpO₂（相機）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估血氧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27228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Hoffman 2022, npj Digit Med 5:146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04424" y="230886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770632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770632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07208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 rPPG（臉→心率/呼吸）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深度卷積＋注意力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80720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Chen &amp; McDuff 2018, ECCV（DeepPhys）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4424" y="284378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05556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305556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42132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心房顫動（PPG）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深度 CNN 分類 AF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342132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Poh 2018, Heart 104:1921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57434" y="3378708"/>
            <a:ext cx="89941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AI 已確認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3840480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3840480"/>
            <a:ext cx="82296" cy="4572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877056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血紅素（結膜影像）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UNet＋深度回歸 Hb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877056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Chen 2024, BMC Med Inform Decis Mak 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04424" y="391363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37540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375404"/>
            <a:ext cx="82296" cy="4572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41198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膽紅素（皮膚影像）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ML 回歸估膽紅素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41198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BiliCam：Taylor 2017, Pediatrics 140:e20170312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04424" y="444855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91032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910328"/>
            <a:ext cx="82296" cy="4572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94690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瞳孔光反射（前鏡頭）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追瞳孔直徑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94690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PupilScreen：Mariakakis 2017, ACM IMWUT 1(3)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04424" y="498348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445252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445252"/>
            <a:ext cx="82296" cy="457200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81828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（現有相機 CRT 為曲線擬合、非 ML）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548182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無合格 camera＋AI 論文（僅未發表 App/專利）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96854" y="5518404"/>
            <a:ext cx="459994" cy="310896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無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943600"/>
            <a:ext cx="10744200" cy="731520"/>
          </a:xfrm>
          <a:prstGeom prst="roundRect">
            <a:avLst>
              <a:gd name="adj" fmla="val 60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5943600"/>
            <a:ext cx="91440" cy="73152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" y="6071616"/>
            <a:ext cx="1036015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已見原文的程式碼來源（GitHub 可存取）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MEDVSE：github.com/MahdiFarvardin/MEDVSE　·　Hoffman：github.com/ubicomplab/oximetry-phone-cam-data　·　DeepPhys：github.com/ubicomplab/rPPG-Toolbox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代表 AI 論文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每個方法至少關聯一篇「結合 AI」的論文　·　Lv2 App ＋ Lv3 便宜外接設備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170432"/>
            <a:ext cx="10744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查證：已見原文＝在 GitHub 看到 arXiv 原始碼/作者程式碼；搜尋佐證＝論文真實、AI 用途有原頁引文，但全文 PDF 因本環境網路政策(egress)被擋、無法下載。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咳嗽音（麥克風）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CNN / ResNet50 分類咳嗽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3736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Pahar 2021, Comput Biol Med 135:104572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04424" y="177393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23570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235708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27228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主訴文字（＋徵象）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神經網路融合詞向量＋徵象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27228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Joseph 2020, JACEP Open 1(5):773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04424" y="230886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2770632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13232" y="2770632"/>
            <a:ext cx="82296" cy="4572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807208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步態 / 跌倒（加速度計）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ML（SVM）偵測步態異常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80720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Kocuvan 2023, Sensors 23(19):8294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04424" y="284378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05556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3232" y="3305556"/>
            <a:ext cx="82296" cy="457200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342132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Lv2 呼吸速率（呼吸音）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ConvLSTM 抓吐氣段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342132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Fukuyama 2022, Adv Biomed Eng（DOI 未確認）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04424" y="3378708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來源較弱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3840480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3840480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877056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穿戴 PPG → 惡化預測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Transformer 預測 2h 後惡化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877056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Ming 2024, npj Digit Med（登革熱穿戴）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04424" y="3913632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" y="4375404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13232" y="4375404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4411980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單導程 ECG → 心律不整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34 層 CNN 分 12 種心律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49039" y="4411980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Hannun 2019, Nature Medicine 25:65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04424" y="4448556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910328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910328"/>
            <a:ext cx="82296" cy="45720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946904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Cuffless 血壓（PPG）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DNN＋LSTM 由 PPG 估血壓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946904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Hsu 2020, Sensors 20(19):5668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504424" y="4983480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已見原文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445252"/>
            <a:ext cx="10744200" cy="457200"/>
          </a:xfrm>
          <a:prstGeom prst="roundRect">
            <a:avLst>
              <a:gd name="adj" fmla="val 9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13232" y="5445252"/>
            <a:ext cx="82296" cy="4572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5481828"/>
            <a:ext cx="27432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Lv3 連續血糖 CGM → 低血糖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LSTM 預測 30 分鐘低血糖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5481828"/>
            <a:ext cx="5394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Shao 2024, JMIR Med Inform 12:e56909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04424" y="5518404"/>
            <a:ext cx="852424" cy="310896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搜尋佐證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" y="5943600"/>
            <a:ext cx="10744200" cy="731520"/>
          </a:xfrm>
          <a:prstGeom prst="roundRect">
            <a:avLst>
              <a:gd name="adj" fmla="val 6000"/>
            </a:avLst>
          </a:prstGeom>
          <a:solidFill>
            <a:srgbClr val="EC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13232" y="5943600"/>
            <a:ext cx="91440" cy="731520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" y="6071616"/>
            <a:ext cx="10360152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已見原文的程式碼來源（GitHub 可存取）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Joseph：github.com/jwjoseph/NN_triage_predict　·　Hannun：github.com/awni/ecg（官方）　·　Hsu：github.com/Yan-Cheng-Hsu/Blood-Pressure-Estimation-Model（官方）　·　Ming：github.com/jsmdaniels/VITAL（官方）　·　Pahar：github.com/raina-akshay/covidfromcough（第三方）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能力分層 · 對照表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哪個數值，從哪一層開始能測？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481328"/>
            <a:ext cx="27889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數值 / EHR</a:t>
            </a:r>
          </a:p>
        </p:txBody>
      </p:sp>
      <p:sp>
        <p:nvSpPr>
          <p:cNvPr id="6" name="Rectangle 5"/>
          <p:cNvSpPr/>
          <p:nvPr/>
        </p:nvSpPr>
        <p:spPr>
          <a:xfrm>
            <a:off x="3502152" y="1481328"/>
            <a:ext cx="228600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Lv1　只相機</a:t>
            </a:r>
          </a:p>
        </p:txBody>
      </p:sp>
      <p:sp>
        <p:nvSpPr>
          <p:cNvPr id="7" name="Rectangle 6"/>
          <p:cNvSpPr/>
          <p:nvPr/>
        </p:nvSpPr>
        <p:spPr>
          <a:xfrm>
            <a:off x="5788152" y="1481328"/>
            <a:ext cx="310896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Lv2　＋App（麥克風·觸控）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7112" y="1481328"/>
            <a:ext cx="256032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Lv3　＋便宜外接設備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8366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02152" y="188366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篩檢（接觸 PPG）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88152" y="188366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97112" y="188366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可靠（血氧計）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2267712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2267712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篩檢（相機＋閃光）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88152" y="2267712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7112" y="2267712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可靠（夾式血氧計）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2651760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2152" y="2651760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概略（PPG/胸部）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88152" y="2651760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可（點按·麥克風）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97112" y="2651760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3035808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02152" y="3035808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88152" y="3035808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只能 OCR 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97112" y="3035808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可靠（紅外線計）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3419856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02152" y="3419856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88152" y="3419856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97112" y="3419856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可（壓脈帶）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3803904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心電圖 ECG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88152" y="3803904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97112" y="3803904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可（單導程貼片）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187952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02152" y="4187952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篩檢（PPG）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4187952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7112" y="4187952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可（ECG 更準）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" y="4572000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02152" y="4572000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88152" y="4572000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可（麥克風）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97112" y="4572000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13232" y="4956048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 / 主訴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02152" y="4956048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88152" y="4956048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可（觸控輸入）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97112" y="4956048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3232" y="5340096"/>
            <a:ext cx="27889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影像篩檢：貧血·黃疸·CRT·瞳孔·HRV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502152" y="5340096"/>
            <a:ext cx="228600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可（影像）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788152" y="5340096"/>
            <a:ext cx="310896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97112" y="5340096"/>
            <a:ext cx="2560320" cy="38404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3232" y="5724144"/>
            <a:ext cx="2788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尿蛋白 / 血糖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02152" y="5724144"/>
            <a:ext cx="22860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788152" y="5724144"/>
            <a:ext cx="31089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97112" y="5724144"/>
            <a:ext cx="2560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可（試紙）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13232" y="6144768"/>
            <a:ext cx="10744200" cy="36576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3232" y="6144768"/>
            <a:ext cx="91440" cy="36576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" y="6272784"/>
            <a:ext cx="103601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「—」= 該層做不到　·　「篩檢」= 篩檢級、不取代正式檢驗　·　「可靠」= 接近醫療級。體溫/血壓/心電圖幾乎都要到 Lv3。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EHR 數據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基本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只用手機相機（含閃光），能做到哪些？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純相機、不外接任何硬體能做的。狀態：綠=可靠　黃=篩檢/研究　紅=做不到/實驗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手指蓋後鏡頭＋閃光 → 接觸式 PPG（血液脈動亮暗）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同段指尖影片，比紅/藍綠光脈動比值 → CNN 估算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60749" y="236829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讀螢幕數字（OCR）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拍血氧計/體溫計螢幕 → OCR 讀數字（間接）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間接·成熟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指尖 PPG 基線起伏，或前鏡頭拍胸部起伏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一般方法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50056" y="3538728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可行·研究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相機測不到熱 → 不能直測，只能 OCR 讀體溫計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(OCR)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23398" y="4123944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不能直測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波形估血壓仍實驗、不可靠、非臨床級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非這 5 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實驗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4572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屬手機「麥克風」，不是相機的工作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60749" y="5294376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非相機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797296"/>
            <a:ext cx="10744200" cy="603504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797296"/>
            <a:ext cx="91440" cy="603504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25312"/>
            <a:ext cx="103601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核心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相機其實只做兩件事：① 當「接觸式血氧感測器」（指尖 PPG → 心率可靠、血氧篩檢級）；② 當「掃描器」（OCR 讀既有裝置螢幕）。體溫、血壓相機都做不好。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聚焦相機 · 進階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手機相機還能「篩檢」出這些（超出這 5 篇的研究）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以下多來自這 5 篇以外的相機健康量測文獻，屬篩檢/研究級。狀態：綠=較成熟　黃=篩檢/研究　紅=實驗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心房顫動 / 心律不整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74650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 PPG 脈搏不規則 → 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74650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統合 敏感94%/特異96%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60749" y="178308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心率變異 HRV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33172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逐拍間隔 → 自律神經/壓力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233172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接觸 或 臉部 rPPG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98099" y="2368296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可行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貧血 / 血紅素 Hb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916936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眼結膜 或 指甲床影像 → 估 Hb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16936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結膜~75%；HemaApp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350056" y="2953512"/>
            <a:ext cx="1006792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篩檢/研究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黃疸 / 膽紅素（新生兒）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3502152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皮膚 或 鞏膜影像 → 估膽紅素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350215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BiliCam R.84–.91、BiliScreen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篩檢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微血管回填 CRT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087368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指壓後短影片 → 自動測回填時間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4087368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Cap App；敗血症檢傷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新興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瞳孔光反射 PLR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4672584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前鏡頭＋閃光拍瞳孔對光收縮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4672584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PupilScreen；腦傷/中風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698099" y="470916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06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非接觸臉部 rPPG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257800"/>
            <a:ext cx="39776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環境光拍臉 → 心率/呼吸/HRV（免碰）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5240" y="5257800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HR 誤差~0.1–0.4 bpm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78072" y="5294376"/>
            <a:ext cx="878776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HR 可靠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66928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共同原理：都在分析影像的「顏色·脈動·形狀」。多屬篩檢/研究級、不取代正式檢驗；顏色類（血氧·貧血·黃疸）受膚色影響是共同限制。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· 整合方法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