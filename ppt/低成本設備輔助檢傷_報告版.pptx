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【訊號取得重點】</a:t>
            </a:r>
          </a:p>
          <a:p>
            <a:r>
              <a:t>· 心率 HR：Masimo iSpO₂ 指夾直接讀出</a:t>
            </a:r>
          </a:p>
          <a:p>
            <a:r>
              <a:t>· 血氧 SpO₂：指夾用紅光＋紅外光穿過指尖，量含氧／缺氧血液吸光差 → 算血氧</a:t>
            </a:r>
          </a:p>
          <a:p>
            <a:r>
              <a:t>· 呼吸速率 RR：App 內建 RRate：跟著孩子每次呼吸點一下螢幕，換算每分鐘呼吸數（註：最後模型沒用到）</a:t>
            </a:r>
          </a:p>
          <a:p>
            <a:r>
              <a:t>· 體溫：體溫計量測，護理師輸入 App</a:t>
            </a:r>
          </a:p>
          <a:p>
            <a:r>
              <a:t>· 上臂圍 MUAC：捲尺量上臂，反映營養狀態</a:t>
            </a:r>
          </a:p>
          <a:p>
            <a:r>
              <a:t>· 觀察徵象：水腫、蒼白由護理師勾選（人為感測）</a:t>
            </a:r>
          </a:p>
          <a:p/>
          <a:p>
            <a:r>
              <a:t>設備：平板（Samsung Galaxy A8）＋ Masimo iSpO₂ 夾式指尖血氧計；醫師端另有儀表板</a:t>
            </a:r>
          </a:p>
          <a:p>
            <a:r>
              <a:t>金額：平板 ~US$200–250 ＋ 醫療級血氧計 ~US$200–300 → 整套約 NT$1.3–1.7 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【結合主訴】</a:t>
            </a:r>
          </a:p>
          <a:p>
            <a:r>
              <a:t>主訴以「結構化勾選清單」輸入（家長擔憂、呼吸困難，加觀察到的水腫、蒼白），和自動量到的生命徵象（年齡、心率、體溫、上臂圍、血氧）一起放進「同一條 Logistic 回歸公式」，各自是一個加權項，直接輸出一個住院風險機率，再用 8%／40% 兩個門檻分成紅／黃／綠。</a:t>
            </a:r>
          </a:p>
          <a:p/>
          <a:p>
            <a:r>
              <a:t>重點：症狀與數字不是分開評分，而是同一條公式裡的權重——把「家長覺得不對勁」也變成一個可計算的變數。</a:t>
            </a:r>
          </a:p>
          <a:p>
            <a:r>
              <a:t>把主訴當成公式裡的變數，和血氧、心率等一起加權，最直接的「結合」。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【訊號取得重點】</a:t>
            </a:r>
          </a:p>
          <a:p>
            <a:r>
              <a:t>· 血氧 SpO₂＋脈搏：指夾探頭：紅／紅外光穿指尖，含氧/缺氧血吸光不同 → 算 SpO₂ 與心率，傳回 App</a:t>
            </a:r>
          </a:p>
          <a:p>
            <a:r>
              <a:t>· 血壓：標準血壓計量測，手動輸入</a:t>
            </a:r>
          </a:p>
          <a:p>
            <a:r>
              <a:t>· 尿蛋白：標準尿液試紙，選等級輸入</a:t>
            </a:r>
          </a:p>
          <a:p>
            <a:r>
              <a:t>· 症狀·病史：以勾選清單輸入（見下頁主訴）</a:t>
            </a:r>
          </a:p>
          <a:p/>
          <a:p>
            <a:r>
              <a:t>設備：市售 Android 手機 ＋『Phone Oximeter』指夾血氧探頭（UBC 研發，早期經耳機孔連接）</a:t>
            </a:r>
          </a:p>
          <a:p>
            <a:r>
              <a:t>金額：血氧探頭目標價 ~US$40 ＋ 中階 Android 手機 → 整套 &lt; NT$5000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【結合主訴】</a:t>
            </a:r>
          </a:p>
          <a:p>
            <a:r>
              <a:t>主訴以勾選清單輸入（頭痛／視力、胸痛／喘、出血＋腹痛）加病史（胎次、懷孕週數），和血壓、尿蛋白、探頭測到的 SpO₂ 一起丟進既有的 miniPIERS Logistic 模型，輸出「48 小時內發生嚴重併發症」的機率，再轉成紅綠燈式檢傷。</a:t>
            </a:r>
          </a:p>
          <a:p/>
          <a:p>
            <a:r>
              <a:t>重點：血氧探頭補上一個關鍵徵象——研究顯示把 SpO₂ 加進 miniPIERS，抓到高危孕婦的敏感度由 ~33% 升到 ~50%。</a:t>
            </a:r>
          </a:p>
          <a:p>
            <a:r>
              <a:t>沿用成熟風險模型，手機＋血氧計把它搬到床邊；主訴與 SpO₂ 都是模型輸入。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【訊號取得重點】</a:t>
            </a:r>
          </a:p>
          <a:p>
            <a:r>
              <a:t>· 體溫：MLX90614 紅外線非接觸測額溫/耳溫；或用相機 OCR 讀家用體溫計螢幕</a:t>
            </a:r>
          </a:p>
          <a:p>
            <a:r>
              <a:t>· 血氧 SpO₂＋心率：MAX30101 指尖紅/紅外光感測；或手指按後鏡頭＋閃光取得 PPG（心率）</a:t>
            </a:r>
          </a:p>
          <a:p>
            <a:r>
              <a:t>· 咳嗽·呼吸音：手機麥克風錄音</a:t>
            </a:r>
          </a:p>
          <a:p>
            <a:r>
              <a:t>· 症狀：App 內自填問卷</a:t>
            </a:r>
          </a:p>
          <a:p/>
          <a:p>
            <a:r>
              <a:t>設備：一般手機＋Flutter App（Android，已上架 Google Play）；另有選配低成本外掛</a:t>
            </a:r>
          </a:p>
          <a:p>
            <a:r>
              <a:t>金額：外掛：ESP32＋MAX30101（血氧/心率）＋MLX90614（紅外體溫），材料成本數十美元 → &lt; NT$5000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【結合主訴】</a:t>
            </a:r>
          </a:p>
          <a:p>
            <a:r>
              <a:t>主訴以 App 自填問卷收集，和量到的體溫／血氧／心率／咳嗽音一起「加密上傳到醫師的網頁儀表板」，由醫師（人）看著數字＋症狀趨勢判斷誰在惡化——是「人來融合」，沒有自動模型。</a:t>
            </a:r>
          </a:p>
          <a:p/>
          <a:p>
            <a:r>
              <a:t>重點：這是另一條路線——不做自動評分，把客觀數據送到醫師眼前，讓專業判斷取代電話追蹤。</a:t>
            </a:r>
          </a:p>
          <a:p>
            <a:r>
              <a:t>融合由「人」完成：便宜設備負責把徵象與症狀變成醫師看得到的硬數據。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【訊號取得重點】</a:t>
            </a:r>
          </a:p>
          <a:p>
            <a:r>
              <a:t>· 生命徵象（結構化）：心率、呼吸、血壓、體溫、血氧，加年齡/性別</a:t>
            </a:r>
          </a:p>
          <a:p>
            <a:r>
              <a:t>· 血氧／心率：來自標準指夾血氧計</a:t>
            </a:r>
          </a:p>
          <a:p>
            <a:r>
              <a:t>· 血壓：手臂壓脈帶</a:t>
            </a:r>
          </a:p>
          <a:p>
            <a:r>
              <a:t>· 體溫：電子體溫計</a:t>
            </a:r>
          </a:p>
          <a:p>
            <a:r>
              <a:t>· 主訴（文字）：護理師鍵入的一句自由文字，交給模型理解語意</a:t>
            </a:r>
          </a:p>
          <a:p/>
          <a:p>
            <a:r>
              <a:t>設備：無任何硬體。純軟體／機器學習，跑在醫院既有電子病歷／檢傷系統裡</a:t>
            </a:r>
          </a:p>
          <a:p>
            <a:r>
              <a:t>金額：無硬體成本（不需買任何東西）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【結合主訴】</a:t>
            </a:r>
          </a:p>
          <a:p>
            <a:r>
              <a:t>主訴是護理師打的「自由文字」。模型先把文字斷詞、轉成詞向量（embedding，讓意義相近的詞數字也相近），再和生命徵象數字一起餵進神經網路的共同層，由網路自己「學」出哪些字句代表危險，輸出重症機率。</a:t>
            </a:r>
          </a:p>
          <a:p/>
          <a:p>
            <a:r>
              <a:t>重點：這是最典型的「文字＋數字」自動融合。加入主訴文字後，AUC 由 0.82 升到 0.85，遠勝傳統 ESI（0.67）。</a:t>
            </a:r>
          </a:p>
          <a:p>
            <a:r>
              <a:t>不需人工整理症狀，讓深度學習直接讀懂主訴文字，是最靈活的結合方式。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【訊號取得重點】</a:t>
            </a:r>
          </a:p>
          <a:p>
            <a:r>
              <a:t>· 血氧 SpO₂：手指蓋後鏡頭、閃光從內照亮組織；相機逐格記錄血液脈動造成的細微顏色(RGB)變化＝PPG 訊號</a:t>
            </a:r>
          </a:p>
          <a:p>
            <a:r>
              <a:t>· 原理 ratio-of-ratios：含氧與缺氧血紅素對紅光 vs 藍/綠光吸收不同；比較各色『脈動(AC)/穩定(DC)』比值 → 反推含氧量</a:t>
            </a:r>
          </a:p>
          <a:p>
            <a:r>
              <a:t>· 心率：PPG 的脈動頻率本身就含心率</a:t>
            </a:r>
          </a:p>
          <a:p/>
          <a:p>
            <a:r>
              <a:t>設備：未改裝的市售手機（Google Nexus 6P）：手指蓋後鏡頭、開閃光即可</a:t>
            </a:r>
          </a:p>
          <a:p>
            <a:r>
              <a:t>金額：幾乎零成本（用手邊既有手機）→ 遠 &lt; NT$5000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【結合主訴】</a:t>
            </a:r>
          </a:p>
          <a:p>
            <a:r>
              <a:t>本篇「不使用主訴」，只做純訊號 → 血氧。它是上游的「感測積木」：量到的 SpO₂（低於 90% 警示）本身就是一個徵象，可以接到像論文 1、4 那樣的「主訴＋徵象」融合模型裡，補上「連便宜手機都能量血氧」這一塊。</a:t>
            </a:r>
          </a:p>
          <a:p/>
          <a:p>
            <a:r>
              <a:t>重點：這篇解決的是『怎麼用一支普通手機取得血氧』；把它產生的 SpO₂ 餵進前幾篇的融合模型，就能結合主訴。</a:t>
            </a:r>
          </a:p>
          <a:p>
            <a:r>
              <a:t>本身不含主訴，但提供最便宜的血氧來源，可當作其他融合模型的輸入。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920240"/>
            <a:ext cx="100584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38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低成本設備輔助檢傷（報告版）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900" b="0" i="0" lang="zh-TW">
                <a:solidFill>
                  <a:srgbClr val="CFE2EA"/>
                </a:solidFill>
                <a:latin typeface="Segoe UI"/>
                <a:ea typeface="Microsoft JhengHei"/>
                <a:cs typeface="Microsoft JhengHei"/>
              </a:rPr>
              <a:t>聚焦：訊號如何取得　×　如何結合主訴做判斷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7548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5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5 篇論文 · 每篇 2 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總結 ①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便宜設備現在能取得哪些 EHR 數據？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07008"/>
            <a:ext cx="10744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每列＝ EHR 項目 ｜ 便宜取得方式 ｜ 出現於哪幾篇 ｜ 成熟度（綠=可靠　黃=篩檢/研究　紅=受限）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700784"/>
            <a:ext cx="10744200" cy="493776"/>
          </a:xfrm>
          <a:prstGeom prst="roundRect">
            <a:avLst>
              <a:gd name="adj" fmla="val 10000"/>
            </a:avLst>
          </a:prstGeom>
          <a:solidFill>
            <a:srgbClr val="EA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700784"/>
            <a:ext cx="82296" cy="493776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46504"/>
            <a:ext cx="2697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心率 HR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746504"/>
            <a:ext cx="44805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手機相機 PPG · 夾式血氧計 · 智慧手錶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11312" y="1746504"/>
            <a:ext cx="1783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1·2·3·5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98099" y="1783080"/>
            <a:ext cx="658749" cy="329184"/>
          </a:xfrm>
          <a:prstGeom prst="roundRect">
            <a:avLst>
              <a:gd name="adj" fmla="val 50000"/>
            </a:avLst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成熟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286000"/>
            <a:ext cx="10744200" cy="493776"/>
          </a:xfrm>
          <a:prstGeom prst="roundRect">
            <a:avLst>
              <a:gd name="adj" fmla="val 10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2286000"/>
            <a:ext cx="82296" cy="493776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331720"/>
            <a:ext cx="2697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血氧 SpO₂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31720"/>
            <a:ext cx="44805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夾式/插入式血氧計(準) · 手機相機＋閃光(篩檢級)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331720"/>
            <a:ext cx="1783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1·2·3·5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03371" y="2368296"/>
            <a:ext cx="1153477" cy="329184"/>
          </a:xfrm>
          <a:prstGeom prst="roundRect">
            <a:avLst>
              <a:gd name="adj" fmla="val 50000"/>
            </a:avLst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成熟 / 篩檢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2871216"/>
            <a:ext cx="10744200" cy="493776"/>
          </a:xfrm>
          <a:prstGeom prst="roundRect">
            <a:avLst>
              <a:gd name="adj" fmla="val 10000"/>
            </a:avLst>
          </a:prstGeom>
          <a:solidFill>
            <a:srgbClr val="EA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2871216"/>
            <a:ext cx="82296" cy="493776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916936"/>
            <a:ext cx="2697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呼吸速率 RR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916936"/>
            <a:ext cx="44805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App 點按(RRate) · 相機拍胸部起伏 · 麥克風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2916936"/>
            <a:ext cx="1783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60749" y="2953512"/>
            <a:ext cx="796099" cy="329184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尚可用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3456432"/>
            <a:ext cx="10744200" cy="493776"/>
          </a:xfrm>
          <a:prstGeom prst="roundRect">
            <a:avLst>
              <a:gd name="adj" fmla="val 10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3456432"/>
            <a:ext cx="82296" cy="493776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502152"/>
            <a:ext cx="2697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體溫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502152"/>
            <a:ext cx="44805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紅外線體溫計外掛 · 相機 OCR 讀顯示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3502152"/>
            <a:ext cx="1783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1·3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98099" y="3538728"/>
            <a:ext cx="658749" cy="329184"/>
          </a:xfrm>
          <a:prstGeom prst="roundRect">
            <a:avLst>
              <a:gd name="adj" fmla="val 50000"/>
            </a:avLst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成熟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4041648"/>
            <a:ext cx="10744200" cy="493776"/>
          </a:xfrm>
          <a:prstGeom prst="roundRect">
            <a:avLst>
              <a:gd name="adj" fmla="val 10000"/>
            </a:avLst>
          </a:prstGeom>
          <a:solidFill>
            <a:srgbClr val="EA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3232" y="4041648"/>
            <a:ext cx="82296" cy="493776"/>
          </a:xfrm>
          <a:prstGeom prst="rect">
            <a:avLst/>
          </a:prstGeom>
          <a:solidFill>
            <a:srgbClr val="C84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087368"/>
            <a:ext cx="2697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血壓 BP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087368"/>
            <a:ext cx="44805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壓脈帶手動輸入；純手機量測尚不可靠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4087368"/>
            <a:ext cx="1783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698099" y="4123944"/>
            <a:ext cx="658749" cy="329184"/>
          </a:xfrm>
          <a:prstGeom prst="roundRect">
            <a:avLst>
              <a:gd name="adj" fmla="val 50000"/>
            </a:avLst>
          </a:prstGeom>
          <a:solidFill>
            <a:srgbClr val="C84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受限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4626864"/>
            <a:ext cx="10744200" cy="493776"/>
          </a:xfrm>
          <a:prstGeom prst="roundRect">
            <a:avLst>
              <a:gd name="adj" fmla="val 10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3232" y="4626864"/>
            <a:ext cx="82296" cy="493776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672584"/>
            <a:ext cx="2697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咳嗽 / 呼吸音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4672584"/>
            <a:ext cx="44805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手機麥克風錄音（自動分類仍研究）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1312" y="4672584"/>
            <a:ext cx="1783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560749" y="4709160"/>
            <a:ext cx="796099" cy="329184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研究中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3232" y="5212080"/>
            <a:ext cx="10744200" cy="493776"/>
          </a:xfrm>
          <a:prstGeom prst="roundRect">
            <a:avLst>
              <a:gd name="adj" fmla="val 10000"/>
            </a:avLst>
          </a:prstGeom>
          <a:solidFill>
            <a:srgbClr val="EA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13232" y="5212080"/>
            <a:ext cx="82296" cy="493776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257800"/>
            <a:ext cx="2697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臨床觀察（水腫·蒼白·意識）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5257800"/>
            <a:ext cx="44805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由醫護觀察後輸入 EHR 欄位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11312" y="5257800"/>
            <a:ext cx="1783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1·2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423398" y="5294376"/>
            <a:ext cx="933450" cy="329184"/>
          </a:xfrm>
          <a:prstGeom prst="roundRect">
            <a:avLst>
              <a:gd name="adj" fmla="val 50000"/>
            </a:avLst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靠人判讀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" y="5870448"/>
            <a:ext cx="10744200" cy="54864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13232" y="5870448"/>
            <a:ext cx="91440" cy="548640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76" y="5998464"/>
            <a:ext cx="1036015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註：論文 4（Joseph）不新增感測，直接沿用 EHR 既有生命徵象數字；上表列的是「用便宜設備主動取得」的對應。真正穩定 &lt;NT$5000 的以心率、血氧、體溫、呼吸為主，血壓與聲音類仍是弱點。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總結 ①B · 聚焦相機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只用手機相機（含閃光），能做到哪些？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07008"/>
            <a:ext cx="10744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把上一頁篩成「純相機、不外接任何硬體」能做的。狀態：綠=可靠　黃=篩檢/研究　紅=做不到/實驗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700784"/>
            <a:ext cx="10744200" cy="493776"/>
          </a:xfrm>
          <a:prstGeom prst="roundRect">
            <a:avLst>
              <a:gd name="adj" fmla="val 10000"/>
            </a:avLst>
          </a:prstGeom>
          <a:solidFill>
            <a:srgbClr val="EA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700784"/>
            <a:ext cx="82296" cy="493776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46504"/>
            <a:ext cx="2606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心率 HR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746504"/>
            <a:ext cx="4572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手指蓋後鏡頭＋閃光 → 接觸式 PPG（血液脈動亮暗）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11312" y="1746504"/>
            <a:ext cx="1783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3·5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98099" y="1783080"/>
            <a:ext cx="658749" cy="329184"/>
          </a:xfrm>
          <a:prstGeom prst="roundRect">
            <a:avLst>
              <a:gd name="adj" fmla="val 50000"/>
            </a:avLst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可靠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286000"/>
            <a:ext cx="10744200" cy="493776"/>
          </a:xfrm>
          <a:prstGeom prst="roundRect">
            <a:avLst>
              <a:gd name="adj" fmla="val 10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2286000"/>
            <a:ext cx="82296" cy="493776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331720"/>
            <a:ext cx="2606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血氧 SpO₂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331720"/>
            <a:ext cx="4572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同段指尖影片，比紅/藍綠光脈動比值 → CNN 估算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331720"/>
            <a:ext cx="1783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60749" y="2368296"/>
            <a:ext cx="796099" cy="329184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篩檢級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2871216"/>
            <a:ext cx="10744200" cy="493776"/>
          </a:xfrm>
          <a:prstGeom prst="roundRect">
            <a:avLst>
              <a:gd name="adj" fmla="val 10000"/>
            </a:avLst>
          </a:prstGeom>
          <a:solidFill>
            <a:srgbClr val="EA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2871216"/>
            <a:ext cx="82296" cy="493776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916936"/>
            <a:ext cx="2606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讀螢幕數字（OCR）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916936"/>
            <a:ext cx="4572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拍血氧計/體溫計螢幕 → OCR 讀數字（間接）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2916936"/>
            <a:ext cx="1783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50056" y="2953512"/>
            <a:ext cx="1006792" cy="329184"/>
          </a:xfrm>
          <a:prstGeom prst="roundRect">
            <a:avLst>
              <a:gd name="adj" fmla="val 50000"/>
            </a:avLst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間接·成熟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3456432"/>
            <a:ext cx="10744200" cy="493776"/>
          </a:xfrm>
          <a:prstGeom prst="roundRect">
            <a:avLst>
              <a:gd name="adj" fmla="val 10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3456432"/>
            <a:ext cx="82296" cy="493776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502152"/>
            <a:ext cx="2606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呼吸速率 RR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502152"/>
            <a:ext cx="4572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指尖 PPG 基線起伏，或前鏡頭拍胸部起伏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3502152"/>
            <a:ext cx="1783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一般方法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50056" y="3538728"/>
            <a:ext cx="1006792" cy="329184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可行·研究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4041648"/>
            <a:ext cx="10744200" cy="493776"/>
          </a:xfrm>
          <a:prstGeom prst="roundRect">
            <a:avLst>
              <a:gd name="adj" fmla="val 10000"/>
            </a:avLst>
          </a:prstGeom>
          <a:solidFill>
            <a:srgbClr val="EA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3232" y="4041648"/>
            <a:ext cx="82296" cy="493776"/>
          </a:xfrm>
          <a:prstGeom prst="rect">
            <a:avLst/>
          </a:prstGeom>
          <a:solidFill>
            <a:srgbClr val="C84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087368"/>
            <a:ext cx="2606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體溫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087368"/>
            <a:ext cx="4572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相機測不到熱 → 不能直測，只能 OCR 讀體溫計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4087368"/>
            <a:ext cx="1783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3 (OCR)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23398" y="4123944"/>
            <a:ext cx="933450" cy="329184"/>
          </a:xfrm>
          <a:prstGeom prst="roundRect">
            <a:avLst>
              <a:gd name="adj" fmla="val 50000"/>
            </a:avLst>
          </a:prstGeom>
          <a:solidFill>
            <a:srgbClr val="C84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不能直測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4626864"/>
            <a:ext cx="10744200" cy="493776"/>
          </a:xfrm>
          <a:prstGeom prst="roundRect">
            <a:avLst>
              <a:gd name="adj" fmla="val 10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3232" y="4626864"/>
            <a:ext cx="82296" cy="493776"/>
          </a:xfrm>
          <a:prstGeom prst="rect">
            <a:avLst/>
          </a:prstGeom>
          <a:solidFill>
            <a:srgbClr val="C84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672584"/>
            <a:ext cx="2606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血壓 BP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0" y="4672584"/>
            <a:ext cx="4572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PPG 波形估血壓仍實驗、不可靠、非臨床級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1312" y="4672584"/>
            <a:ext cx="1783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非這 5 篇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698099" y="4709160"/>
            <a:ext cx="658749" cy="329184"/>
          </a:xfrm>
          <a:prstGeom prst="roundRect">
            <a:avLst>
              <a:gd name="adj" fmla="val 50000"/>
            </a:avLst>
          </a:prstGeom>
          <a:solidFill>
            <a:srgbClr val="C84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實驗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3232" y="5212080"/>
            <a:ext cx="10744200" cy="493776"/>
          </a:xfrm>
          <a:prstGeom prst="roundRect">
            <a:avLst>
              <a:gd name="adj" fmla="val 10000"/>
            </a:avLst>
          </a:prstGeom>
          <a:solidFill>
            <a:srgbClr val="EA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13232" y="5212080"/>
            <a:ext cx="82296" cy="493776"/>
          </a:xfrm>
          <a:prstGeom prst="rect">
            <a:avLst/>
          </a:prstGeom>
          <a:solidFill>
            <a:srgbClr val="6B78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257800"/>
            <a:ext cx="2606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咳嗽 / 呼吸音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0" y="5257800"/>
            <a:ext cx="4572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屬手機「麥克風」，不是相機的工作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11312" y="5257800"/>
            <a:ext cx="1783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—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560749" y="5294376"/>
            <a:ext cx="796099" cy="329184"/>
          </a:xfrm>
          <a:prstGeom prst="roundRect">
            <a:avLst>
              <a:gd name="adj" fmla="val 50000"/>
            </a:avLst>
          </a:prstGeom>
          <a:solidFill>
            <a:srgbClr val="6B78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非相機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" y="5797296"/>
            <a:ext cx="10744200" cy="603504"/>
          </a:xfrm>
          <a:prstGeom prst="roundRect">
            <a:avLst>
              <a:gd name="adj" fmla="val 6000"/>
            </a:avLst>
          </a:prstGeom>
          <a:solidFill>
            <a:srgbClr val="FB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13232" y="5797296"/>
            <a:ext cx="91440" cy="603504"/>
          </a:xfrm>
          <a:prstGeom prst="rect">
            <a:avLst/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76" y="5925312"/>
            <a:ext cx="103601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核心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相機其實只做兩件事：① 當「接觸式血氧感測器」（指尖 PPG → 心率可靠、血氧篩檢級）；② 當「掃描器」（OCR 讀既有裝置螢幕）。體溫、血壓相機都做不好。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總結 ②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現在「主訴 × EHR」的整合方法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508760"/>
            <a:ext cx="5257800" cy="210312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508760"/>
            <a:ext cx="100584" cy="2103120"/>
          </a:xfrm>
          <a:prstGeom prst="rect">
            <a:avLst/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673352"/>
            <a:ext cx="4800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A. 統計 / 機器學習模型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把症狀編成 0/1，和 EHR 數字放進同一條公式加權計算。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→ 論文 1 Smart Triage、論文 2 PIERS（logistic 回歸）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優：簡單、可解釋　　缺：症狀需先設計成勾選項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508760"/>
            <a:ext cx="5257800" cy="210312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508760"/>
            <a:ext cx="100584" cy="2103120"/>
          </a:xfrm>
          <a:prstGeom prst="rect">
            <a:avLst/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673352"/>
            <a:ext cx="4800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B. 深度學習讀「自由文字」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主訴文字→詞向量(embedding)→神經網路，與 EHR 數字融合。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→ 論文 4 Joseph（加主訴 AUC 0.82→0.85）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優：最靈活、免人工整理　　缺：黑盒、需大量資料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794760"/>
            <a:ext cx="5257800" cy="210312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3794760"/>
            <a:ext cx="100584" cy="210312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959352"/>
            <a:ext cx="4800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C. 人工融合（醫師）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EHR 數據＋症狀上傳儀表板，由醫師看趨勢判讀。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→ 論文 3 e-CoVig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優：免訓練資料、可解釋　　缺：仍要人力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3794760"/>
            <a:ext cx="5257800" cy="210312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3794760"/>
            <a:ext cx="100584" cy="2103120"/>
          </a:xfrm>
          <a:prstGeom prst="rect">
            <a:avLst/>
          </a:prstGeom>
          <a:solidFill>
            <a:srgbClr val="6B78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959352"/>
            <a:ext cx="4800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D. 規則 / 危險徵象清單（傳統）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用固定規則，如 WHO 危險徵象、ESI 分級。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→ 論文 4 用 ESI 當對照；論文 1 勾選項源自 WHO 危險徵象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優：透明、好推廣　　缺：較不準（ESI AUC≈0.67）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5989320"/>
            <a:ext cx="10744200" cy="402336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5989320"/>
            <a:ext cx="91440" cy="402336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6117336"/>
            <a:ext cx="103601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四種方法可混用：多數系統用 A/B 自動算風險，或用 C 讓醫師把關；A、B 正是「把主訴變成模型輸入」。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總覽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共通主軸：取得訊號 → 結合主訴 → 判斷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554480"/>
            <a:ext cx="301752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1. 便宜設備取得徵象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手機相機·血氧計·麥克風·外掛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554480"/>
            <a:ext cx="3017520" cy="96012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2. 結合主訴/症狀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自由文字 或 勾選清單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554480"/>
            <a:ext cx="3017520" cy="960120"/>
          </a:xfrm>
          <a:prstGeom prst="roundRect">
            <a:avLst>
              <a:gd name="adj" fmla="val 12000"/>
            </a:avLst>
          </a:prstGeom>
          <a:solidFill>
            <a:srgbClr val="FBECDC"/>
          </a:solidFill>
          <a:ln w="17780">
            <a:solidFill>
              <a:srgbClr val="E1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3. 判斷（模型或醫師）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檢傷等級·風險機率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97312" y="1463040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模型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297680" y="195224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7589520" y="195224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3063240"/>
            <a:ext cx="2148840" cy="402336"/>
          </a:xfrm>
          <a:prstGeom prst="rect">
            <a:avLst/>
          </a:prstGeom>
          <a:solidFill>
            <a:srgbClr val="1053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#　論文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62072" y="3063240"/>
            <a:ext cx="4297680" cy="402336"/>
          </a:xfrm>
          <a:prstGeom prst="rect">
            <a:avLst/>
          </a:prstGeom>
          <a:solidFill>
            <a:srgbClr val="1053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0" bIns="0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訊號怎麼取得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59752" y="3063240"/>
            <a:ext cx="4297680" cy="402336"/>
          </a:xfrm>
          <a:prstGeom prst="rect">
            <a:avLst/>
          </a:prstGeom>
          <a:solidFill>
            <a:srgbClr val="10536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0" bIns="0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主訴怎麼結合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465576"/>
            <a:ext cx="2148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1　Smart Triage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62072" y="3465576"/>
            <a:ext cx="4297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夾式血氧計讀 SpO₂/心率＋人工量測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9752" y="3465576"/>
            <a:ext cx="4297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勾選症狀與徵象同進 Logistic 公式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4032504"/>
            <a:ext cx="2148840" cy="56692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2　PIERS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62072" y="4032504"/>
            <a:ext cx="4297680" cy="56692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手機接血氧探頭讀 SpO₂＋手動輸入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59752" y="4032504"/>
            <a:ext cx="4297680" cy="56692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症狀勾選＋SpO₂ 進 miniPIERS 模型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4599432"/>
            <a:ext cx="2148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3　e-CoVig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62072" y="4599432"/>
            <a:ext cx="4297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DIY 外掛/相機測體溫·血氧·咳嗽音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9752" y="4599432"/>
            <a:ext cx="4297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自填症狀＋數據上傳，醫師人工判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5166360"/>
            <a:ext cx="2148840" cy="56692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4　Joseph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62072" y="5166360"/>
            <a:ext cx="4297680" cy="56692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沿用急診既有生命徵象數字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59752" y="5166360"/>
            <a:ext cx="4297680" cy="566928"/>
          </a:xfrm>
          <a:prstGeom prst="rect">
            <a:avLst/>
          </a:prstGeom>
          <a:solidFill>
            <a:srgbClr val="F1F5F8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主訴自由文字→詞向量，神經網路融合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5733288"/>
            <a:ext cx="2148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5　Hoffman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62072" y="5733288"/>
            <a:ext cx="4297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手指按相機＋閃光→PPG→CNN 估血氧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9752" y="5733288"/>
            <a:ext cx="4297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45720" tIns="18288" bIns="18288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本篇不用主訴；SpO₂ 可接入他人模型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23444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82880"/>
            <a:ext cx="8961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50" b="1" i="0" lang="zh-TW">
                <a:solidFill>
                  <a:srgbClr val="BFDDE7"/>
                </a:solidFill>
                <a:latin typeface="Segoe UI"/>
                <a:ea typeface="Microsoft JhengHei"/>
                <a:cs typeface="Microsoft JhengHei"/>
              </a:rPr>
              <a:t>論文 1 · 兒科快速檢傷（低收入國家）　—　① 訊號如何取得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8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Smart Triage：低收入國家的兒童快速檢傷演算法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"/>
            <a:ext cx="1554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3000" b="1" i="0" lang="zh-TW">
                <a:solidFill>
                  <a:srgbClr val="2A6A83"/>
                </a:solidFill>
                <a:latin typeface="Segoe UI"/>
                <a:ea typeface="Microsoft JhengHei"/>
                <a:cs typeface="Microsoft JhengHei"/>
              </a:rPr>
              <a:t>1 /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417320"/>
            <a:ext cx="2578608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C84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417320"/>
            <a:ext cx="91440" cy="658368"/>
          </a:xfrm>
          <a:prstGeom prst="rect">
            <a:avLst/>
          </a:prstGeom>
          <a:solidFill>
            <a:srgbClr val="C84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81328"/>
            <a:ext cx="23042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任何手機都能用？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C84554"/>
                </a:solidFill>
                <a:latin typeface="Segoe UI"/>
                <a:ea typeface="Microsoft JhengHei"/>
                <a:cs typeface="Microsoft JhengHei"/>
              </a:rPr>
              <a:t>不是隨便一台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9856" y="1417320"/>
            <a:ext cx="2578608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9856" y="1417320"/>
            <a:ext cx="91440" cy="658368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481328"/>
            <a:ext cx="23042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需要 App？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D99A2B"/>
                </a:solidFill>
                <a:latin typeface="Segoe UI"/>
                <a:ea typeface="Microsoft JhengHei"/>
                <a:cs typeface="Microsoft JhengHei"/>
              </a:rPr>
              <a:t>要（Android 專用 App）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417320"/>
            <a:ext cx="2578608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C84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417320"/>
            <a:ext cx="91440" cy="658368"/>
          </a:xfrm>
          <a:prstGeom prst="rect">
            <a:avLst/>
          </a:prstGeom>
          <a:solidFill>
            <a:srgbClr val="C84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481328"/>
            <a:ext cx="23042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開源？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C84554"/>
                </a:solidFill>
                <a:latin typeface="Segoe UI"/>
                <a:ea typeface="Microsoft JhengHei"/>
                <a:cs typeface="Microsoft JhengHei"/>
              </a:rPr>
              <a:t>App 未開源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33104" y="1417320"/>
            <a:ext cx="2578608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33104" y="1417320"/>
            <a:ext cx="91440" cy="658368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4272" y="1481328"/>
            <a:ext cx="23042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成本 vs NT$5000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D99A2B"/>
                </a:solidFill>
                <a:latin typeface="Segoe UI"/>
                <a:ea typeface="Microsoft JhengHei"/>
                <a:cs typeface="Microsoft JhengHei"/>
              </a:rPr>
              <a:t>超過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2212848"/>
            <a:ext cx="10744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設備：</a:t>
            </a: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平板（Samsung Galaxy A8）＋ Masimo iSpO₂ 夾式指尖血氧計；醫師端另有儀表板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金額：</a:t>
            </a: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平板 ~US$200–250 ＋ 醫療級血氧計 ~US$200–300 → 整套約 NT$1.3–1.7 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154680"/>
            <a:ext cx="10744200" cy="3063240"/>
          </a:xfrm>
          <a:prstGeom prst="roundRect">
            <a:avLst>
              <a:gd name="adj" fmla="val 5000"/>
            </a:avLst>
          </a:prstGeom>
          <a:solidFill>
            <a:srgbClr val="ED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282696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量到哪些徵象、訊號怎麼取得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3739896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2" y="3666744"/>
            <a:ext cx="471830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心率 HR：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Masimo iSpO₂ 指夾直接讀出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448970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0432" y="4416552"/>
            <a:ext cx="471830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血氧 SpO₂：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指夾用紅光＋紅外光穿過指尖，量含氧／缺氧血液吸光差 → 算血氧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5239512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70432" y="5166360"/>
            <a:ext cx="471830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呼吸速率 RR：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App 內建 RRate：跟著孩子每次呼吸點一下螢幕，換算每分鐘呼吸數（註：最後模型沒用到）</a:t>
            </a:r>
          </a:p>
        </p:txBody>
      </p:sp>
      <p:sp>
        <p:nvSpPr>
          <p:cNvPr id="28" name="Oval 27"/>
          <p:cNvSpPr/>
          <p:nvPr/>
        </p:nvSpPr>
        <p:spPr>
          <a:xfrm>
            <a:off x="6245352" y="3739896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01384" y="3666744"/>
            <a:ext cx="471830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體溫：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體溫計量測，護理師輸入 App</a:t>
            </a:r>
          </a:p>
        </p:txBody>
      </p:sp>
      <p:sp>
        <p:nvSpPr>
          <p:cNvPr id="30" name="Oval 29"/>
          <p:cNvSpPr/>
          <p:nvPr/>
        </p:nvSpPr>
        <p:spPr>
          <a:xfrm>
            <a:off x="6245352" y="448970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01384" y="4416552"/>
            <a:ext cx="471830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上臂圍 MUAC：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捲尺量上臂，反映營養狀態</a:t>
            </a:r>
          </a:p>
        </p:txBody>
      </p:sp>
      <p:sp>
        <p:nvSpPr>
          <p:cNvPr id="32" name="Oval 31"/>
          <p:cNvSpPr/>
          <p:nvPr/>
        </p:nvSpPr>
        <p:spPr>
          <a:xfrm>
            <a:off x="6245352" y="5239512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01384" y="5166360"/>
            <a:ext cx="471830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觀察徵象：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水腫、蒼白由護理師勾選（人為感測）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1 · 兒科快速檢傷（低收入國家）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② 如何結合主訴 → 做判斷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17320"/>
            <a:ext cx="10744200" cy="196596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45336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主訴怎麼收集、怎麼和徵象結合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47672"/>
            <a:ext cx="1034186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主訴以「結構化勾選清單」輸入（家長擔憂、呼吸困難，加觀察到的水腫、蒼白），和自動量到的生命徵象（年齡、心率、體溫、上臂圍、血氧）一起放進「同一條 Logistic 回歸公式」，各自是一個加權項，直接輸出一個住院風險機率，再用 8%／40% 兩個門檻分成紅／黃／綠。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370332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1. 徵象 ＋ 主訴(勾選)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370332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FBECDC"/>
          </a:solidFill>
          <a:ln w="17780">
            <a:solidFill>
              <a:srgbClr val="E1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2. Logistic 回歸(9 變數)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5472" y="3611880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模型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70332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3. 住院風險 → 紅/黃/綠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297680" y="407822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7589520" y="407822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5029200"/>
            <a:ext cx="2743200" cy="1143000"/>
          </a:xfrm>
          <a:prstGeom prst="roundRect">
            <a:avLst>
              <a:gd name="adj" fmla="val 7000"/>
            </a:avLst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5120640"/>
            <a:ext cx="248716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BFDDE7"/>
                </a:solidFill>
                <a:latin typeface="Segoe UI"/>
                <a:ea typeface="Microsoft JhengHei"/>
                <a:cs typeface="Microsoft JhengHei"/>
              </a:rPr>
              <a:t>AUROC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0.82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50" b="0" i="0" lang="zh-TW">
                <a:solidFill>
                  <a:srgbClr val="CFE2EA"/>
                </a:solidFill>
                <a:latin typeface="Segoe UI"/>
                <a:ea typeface="Microsoft JhengHei"/>
                <a:cs typeface="Microsoft JhengHei"/>
              </a:rPr>
              <a:t>外部驗證判別力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5029200"/>
            <a:ext cx="7799831" cy="1143000"/>
          </a:xfrm>
          <a:prstGeom prst="roundRect">
            <a:avLst>
              <a:gd name="adj" fmla="val 6000"/>
            </a:avLst>
          </a:prstGeom>
          <a:solidFill>
            <a:srgbClr val="FB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0" y="5029200"/>
            <a:ext cx="91440" cy="1143000"/>
          </a:xfrm>
          <a:prstGeom prst="rect">
            <a:avLst/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95344" y="5157216"/>
            <a:ext cx="7415783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一句帶走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重點：症狀與數字不是分開評分，而是同一條公式裡的權重——把「家長覺得不對勁」也變成一個可計算的變數。
把主訴當成公式裡的變數，和血氧、心率等一起加權，最直接的「結合」。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23444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82880"/>
            <a:ext cx="8961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50" b="1" i="0" lang="zh-TW">
                <a:solidFill>
                  <a:srgbClr val="BFDDE7"/>
                </a:solidFill>
                <a:latin typeface="Segoe UI"/>
                <a:ea typeface="Microsoft JhengHei"/>
                <a:cs typeface="Microsoft JhengHei"/>
              </a:rPr>
              <a:t>論文 2 · 孕婦子癇前症檢傷　—　① 訊號如何取得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8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PIERS on the Move：子癇前症檢傷的手機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"/>
            <a:ext cx="1554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3000" b="1" i="0" lang="zh-TW">
                <a:solidFill>
                  <a:srgbClr val="2A6A83"/>
                </a:solidFill>
                <a:latin typeface="Segoe UI"/>
                <a:ea typeface="Microsoft JhengHei"/>
                <a:cs typeface="Microsoft JhengHei"/>
              </a:rPr>
              <a:t>2 /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417320"/>
            <a:ext cx="2578608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2F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417320"/>
            <a:ext cx="91440" cy="658368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81328"/>
            <a:ext cx="23042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任何手機都能用？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2F9E6A"/>
                </a:solidFill>
                <a:latin typeface="Segoe UI"/>
                <a:ea typeface="Microsoft JhengHei"/>
                <a:cs typeface="Microsoft JhengHei"/>
              </a:rPr>
              <a:t>手機幾乎任一台可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9856" y="1417320"/>
            <a:ext cx="2578608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9856" y="1417320"/>
            <a:ext cx="91440" cy="658368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481328"/>
            <a:ext cx="23042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需要 App？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D99A2B"/>
                </a:solidFill>
                <a:latin typeface="Segoe UI"/>
                <a:ea typeface="Microsoft JhengHei"/>
                <a:cs typeface="Microsoft JhengHei"/>
              </a:rPr>
              <a:t>要（Android 專用）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417320"/>
            <a:ext cx="2578608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C84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417320"/>
            <a:ext cx="91440" cy="658368"/>
          </a:xfrm>
          <a:prstGeom prst="rect">
            <a:avLst/>
          </a:prstGeom>
          <a:solidFill>
            <a:srgbClr val="C84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481328"/>
            <a:ext cx="23042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開源？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C84554"/>
                </a:solidFill>
                <a:latin typeface="Segoe UI"/>
                <a:ea typeface="Microsoft JhengHei"/>
                <a:cs typeface="Microsoft JhengHei"/>
              </a:rPr>
              <a:t>未開源（研究／商用）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33104" y="1417320"/>
            <a:ext cx="2578608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2F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33104" y="1417320"/>
            <a:ext cx="91440" cy="658368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4272" y="1481328"/>
            <a:ext cx="23042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成本 vs NT$5000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2F9E6A"/>
                </a:solidFill>
                <a:latin typeface="Segoe UI"/>
                <a:ea typeface="Microsoft JhengHei"/>
                <a:cs typeface="Microsoft JhengHei"/>
              </a:rPr>
              <a:t>低成本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2212848"/>
            <a:ext cx="10744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設備：</a:t>
            </a: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市售 Android 手機 ＋『Phone Oximeter』指夾血氧探頭（UBC 研發，早期經耳機孔連接）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金額：</a:t>
            </a: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血氧探頭目標價 ~US$40 ＋ 中階 Android 手機 → 整套 &lt; NT$5000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154680"/>
            <a:ext cx="10744200" cy="3063240"/>
          </a:xfrm>
          <a:prstGeom prst="roundRect">
            <a:avLst>
              <a:gd name="adj" fmla="val 5000"/>
            </a:avLst>
          </a:prstGeom>
          <a:solidFill>
            <a:srgbClr val="ED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282696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量到哪些徵象、訊號怎麼取得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3739896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2" y="3666744"/>
            <a:ext cx="10049256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血氧 SpO₂＋脈搏：</a:t>
            </a: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指夾探頭：紅／紅外光穿指尖，含氧/缺氧血吸光不同 → 算 SpO₂ 與心率，傳回 App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4357116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0432" y="4283964"/>
            <a:ext cx="10049256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血壓：</a:t>
            </a: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標準血壓計量測，手動輸入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4974336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70432" y="4901184"/>
            <a:ext cx="10049256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尿蛋白：</a:t>
            </a: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標準尿液試紙，選等級輸入</a:t>
            </a:r>
          </a:p>
        </p:txBody>
      </p:sp>
      <p:sp>
        <p:nvSpPr>
          <p:cNvPr id="28" name="Oval 27"/>
          <p:cNvSpPr/>
          <p:nvPr/>
        </p:nvSpPr>
        <p:spPr>
          <a:xfrm>
            <a:off x="914400" y="5591556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70432" y="5518404"/>
            <a:ext cx="10049256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症狀·病史：</a:t>
            </a: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以勾選清單輸入（見下頁主訴）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2 · 孕婦子癇前症檢傷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② 如何結合主訴 → 做判斷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17320"/>
            <a:ext cx="10744200" cy="196596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45336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主訴怎麼收集、怎麼和徵象結合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47672"/>
            <a:ext cx="1034186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主訴以勾選清單輸入（頭痛／視力、胸痛／喘、出血＋腹痛）加病史（胎次、懷孕週數），和血壓、尿蛋白、探頭測到的 SpO₂ 一起丟進既有的 miniPIERS Logistic 模型，輸出「48 小時內發生嚴重併發症」的機率，再轉成紅綠燈式檢傷。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370332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1. 徵象 ＋ 症狀(勾選)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370332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FBECDC"/>
          </a:solidFill>
          <a:ln w="17780">
            <a:solidFill>
              <a:srgbClr val="E1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2. miniPIERS 回歸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5472" y="3611880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模型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70332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3. 48h 危險機率 → 分級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297680" y="407822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7589520" y="407822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5029200"/>
            <a:ext cx="2743200" cy="1143000"/>
          </a:xfrm>
          <a:prstGeom prst="roundRect">
            <a:avLst>
              <a:gd name="adj" fmla="val 7000"/>
            </a:avLst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5120640"/>
            <a:ext cx="248716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BFDDE7"/>
                </a:solidFill>
                <a:latin typeface="Segoe UI"/>
                <a:ea typeface="Microsoft JhengHei"/>
                <a:cs typeface="Microsoft JhengHei"/>
              </a:rPr>
              <a:t>每人耗時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5 分鐘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50" b="0" i="0" lang="zh-TW">
                <a:solidFill>
                  <a:srgbClr val="CFE2EA"/>
                </a:solidFill>
                <a:latin typeface="Segoe UI"/>
                <a:ea typeface="Microsoft JhengHei"/>
                <a:cs typeface="Microsoft JhengHei"/>
              </a:rPr>
              <a:t>含所有量測與計算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5029200"/>
            <a:ext cx="7799831" cy="1143000"/>
          </a:xfrm>
          <a:prstGeom prst="roundRect">
            <a:avLst>
              <a:gd name="adj" fmla="val 6000"/>
            </a:avLst>
          </a:prstGeom>
          <a:solidFill>
            <a:srgbClr val="FB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0" y="5029200"/>
            <a:ext cx="91440" cy="1143000"/>
          </a:xfrm>
          <a:prstGeom prst="rect">
            <a:avLst/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95344" y="5157216"/>
            <a:ext cx="7415783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一句帶走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重點：血氧探頭補上一個關鍵徵象——研究顯示把 SpO₂ 加進 miniPIERS，抓到高危孕婦的敏感度由 ~33% 升到 ~50%。
沿用成熟風險模型，手機＋血氧計把它搬到床邊；主訴與 SpO₂ 都是模型輸入。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23444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82880"/>
            <a:ext cx="8961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50" b="1" i="0" lang="zh-TW">
                <a:solidFill>
                  <a:srgbClr val="BFDDE7"/>
                </a:solidFill>
                <a:latin typeface="Segoe UI"/>
                <a:ea typeface="Microsoft JhengHei"/>
                <a:cs typeface="Microsoft JhengHei"/>
              </a:rPr>
              <a:t>論文 3 · COVID 居家遠端監測　—　① 訊號如何取得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8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e-CoVig：COVID-19 症狀遠端監測的 mHealth 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"/>
            <a:ext cx="1554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3000" b="1" i="0" lang="zh-TW">
                <a:solidFill>
                  <a:srgbClr val="2A6A83"/>
                </a:solidFill>
                <a:latin typeface="Segoe UI"/>
                <a:ea typeface="Microsoft JhengHei"/>
                <a:cs typeface="Microsoft JhengHei"/>
              </a:rPr>
              <a:t>3 /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417320"/>
            <a:ext cx="2578608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2F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417320"/>
            <a:ext cx="91440" cy="658368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81328"/>
            <a:ext cx="23042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任何手機都能用？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2F9E6A"/>
                </a:solidFill>
                <a:latin typeface="Segoe UI"/>
                <a:ea typeface="Microsoft JhengHei"/>
                <a:cs typeface="Microsoft JhengHei"/>
              </a:rPr>
              <a:t>任何現代手機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9856" y="1417320"/>
            <a:ext cx="2578608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9856" y="1417320"/>
            <a:ext cx="91440" cy="658368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481328"/>
            <a:ext cx="23042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需要 App？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D99A2B"/>
                </a:solidFill>
                <a:latin typeface="Segoe UI"/>
                <a:ea typeface="Microsoft JhengHei"/>
                <a:cs typeface="Microsoft JhengHei"/>
              </a:rPr>
              <a:t>要（Android/Flutter）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417320"/>
            <a:ext cx="2578608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417320"/>
            <a:ext cx="91440" cy="658368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481328"/>
            <a:ext cx="23042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開源？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D99A2B"/>
                </a:solidFill>
                <a:latin typeface="Segoe UI"/>
                <a:ea typeface="Microsoft JhengHei"/>
                <a:cs typeface="Microsoft JhengHei"/>
              </a:rPr>
              <a:t>部分開源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33104" y="1417320"/>
            <a:ext cx="2578608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2F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33104" y="1417320"/>
            <a:ext cx="91440" cy="658368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4272" y="1481328"/>
            <a:ext cx="23042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成本 vs NT$5000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2F9E6A"/>
                </a:solidFill>
                <a:latin typeface="Segoe UI"/>
                <a:ea typeface="Microsoft JhengHei"/>
                <a:cs typeface="Microsoft JhengHei"/>
              </a:rPr>
              <a:t>低成本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2212848"/>
            <a:ext cx="10744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設備：</a:t>
            </a: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一般手機＋Flutter App（Android，已上架 Google Play）；另有選配低成本外掛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金額：</a:t>
            </a: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外掛：ESP32＋MAX30101（血氧/心率）＋MLX90614（紅外體溫），材料成本數十美元 → &lt; NT$5000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154680"/>
            <a:ext cx="10744200" cy="3063240"/>
          </a:xfrm>
          <a:prstGeom prst="roundRect">
            <a:avLst>
              <a:gd name="adj" fmla="val 5000"/>
            </a:avLst>
          </a:prstGeom>
          <a:solidFill>
            <a:srgbClr val="ED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282696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量到哪些徵象、訊號怎麼取得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3739896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2" y="3666744"/>
            <a:ext cx="10049256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體溫：</a:t>
            </a: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MLX90614 紅外線非接觸測額溫/耳溫；或用相機 OCR 讀家用體溫計螢幕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4357116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0432" y="4283964"/>
            <a:ext cx="10049256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血氧 SpO₂＋心率：</a:t>
            </a: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MAX30101 指尖紅/紅外光感測；或手指按後鏡頭＋閃光取得 PPG（心率）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4974336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70432" y="4901184"/>
            <a:ext cx="10049256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咳嗽·呼吸音：</a:t>
            </a: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手機麥克風錄音</a:t>
            </a:r>
          </a:p>
        </p:txBody>
      </p:sp>
      <p:sp>
        <p:nvSpPr>
          <p:cNvPr id="28" name="Oval 27"/>
          <p:cNvSpPr/>
          <p:nvPr/>
        </p:nvSpPr>
        <p:spPr>
          <a:xfrm>
            <a:off x="914400" y="5591556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70432" y="5518404"/>
            <a:ext cx="10049256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症狀：</a:t>
            </a: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App 內自填問卷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3 · COVID 居家遠端監測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② 如何結合主訴 → 做判斷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17320"/>
            <a:ext cx="10744200" cy="196596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45336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主訴怎麼收集、怎麼和徵象結合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47672"/>
            <a:ext cx="1034186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主訴以 App 自填問卷收集，和量到的體溫／血氧／心率／咳嗽音一起「加密上傳到醫師的網頁儀表板」，由醫師（人）看著數字＋症狀趨勢判斷誰在惡化——是「人來融合」，沒有自動模型。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370332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1. 徵象 ＋ 自填症狀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370332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2. 醫師看儀表板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70332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3. 人工檢傷 / 惡化標記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297680" y="407822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589520" y="407822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5029200"/>
            <a:ext cx="2743200" cy="1143000"/>
          </a:xfrm>
          <a:prstGeom prst="roundRect">
            <a:avLst>
              <a:gd name="adj" fmla="val 7000"/>
            </a:avLst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120640"/>
            <a:ext cx="248716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BFDDE7"/>
                </a:solidFill>
                <a:latin typeface="Segoe UI"/>
                <a:ea typeface="Microsoft JhengHei"/>
                <a:cs typeface="Microsoft JhengHei"/>
              </a:rPr>
              <a:t>外掛材料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數十美元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50" b="0" i="0" lang="zh-TW">
                <a:solidFill>
                  <a:srgbClr val="CFE2EA"/>
                </a:solidFill>
                <a:latin typeface="Segoe UI"/>
                <a:ea typeface="Microsoft JhengHei"/>
                <a:cs typeface="Microsoft JhengHei"/>
              </a:rPr>
              <a:t>ESP32＋感測晶片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5029200"/>
            <a:ext cx="7799831" cy="1143000"/>
          </a:xfrm>
          <a:prstGeom prst="roundRect">
            <a:avLst>
              <a:gd name="adj" fmla="val 6000"/>
            </a:avLst>
          </a:prstGeom>
          <a:solidFill>
            <a:srgbClr val="FB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0" y="5029200"/>
            <a:ext cx="91440" cy="1143000"/>
          </a:xfrm>
          <a:prstGeom prst="rect">
            <a:avLst/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95344" y="5157216"/>
            <a:ext cx="7415783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一句帶走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重點：這是另一條路線——不做自動評分，把客觀數據送到醫師眼前，讓專業判斷取代電話追蹤。
融合由「人」完成：便宜設備負責把徵象與症狀變成醫師看得到的硬數據。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23444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82880"/>
            <a:ext cx="8961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50" b="1" i="0" lang="zh-TW">
                <a:solidFill>
                  <a:srgbClr val="BFDDE7"/>
                </a:solidFill>
                <a:latin typeface="Segoe UI"/>
                <a:ea typeface="Microsoft JhengHei"/>
                <a:cs typeface="Microsoft JhengHei"/>
              </a:rPr>
              <a:t>論文 4 · 急診檢傷的深度學習　—　① 訊號如何取得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8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用深度學習從急診檢傷的「少量資訊」揪出重症病人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"/>
            <a:ext cx="1554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3000" b="1" i="0" lang="zh-TW">
                <a:solidFill>
                  <a:srgbClr val="2A6A83"/>
                </a:solidFill>
                <a:latin typeface="Segoe UI"/>
                <a:ea typeface="Microsoft JhengHei"/>
                <a:cs typeface="Microsoft JhengHei"/>
              </a:rPr>
              <a:t>4 /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417320"/>
            <a:ext cx="2578608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417320"/>
            <a:ext cx="91440" cy="65836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81328"/>
            <a:ext cx="23042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任何手機都能用？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不涉及手機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9856" y="1417320"/>
            <a:ext cx="2578608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2F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9856" y="1417320"/>
            <a:ext cx="91440" cy="658368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481328"/>
            <a:ext cx="23042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需要 App？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2F9E6A"/>
                </a:solidFill>
                <a:latin typeface="Segoe UI"/>
                <a:ea typeface="Microsoft JhengHei"/>
                <a:cs typeface="Microsoft JhengHei"/>
              </a:rPr>
              <a:t>病人端不需 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417320"/>
            <a:ext cx="2578608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2F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417320"/>
            <a:ext cx="91440" cy="658368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481328"/>
            <a:ext cx="23042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開源？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2F9E6A"/>
                </a:solidFill>
                <a:latin typeface="Segoe UI"/>
                <a:ea typeface="Microsoft JhengHei"/>
                <a:cs typeface="Microsoft JhengHei"/>
              </a:rPr>
              <a:t>開源（MIT）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33104" y="1417320"/>
            <a:ext cx="2578608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2F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33104" y="1417320"/>
            <a:ext cx="91440" cy="658368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4272" y="1481328"/>
            <a:ext cx="23042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成本 vs NT$5000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2F9E6A"/>
                </a:solidFill>
                <a:latin typeface="Segoe UI"/>
                <a:ea typeface="Microsoft JhengHei"/>
                <a:cs typeface="Microsoft JhengHei"/>
              </a:rPr>
              <a:t>低成本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2212848"/>
            <a:ext cx="10744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設備：</a:t>
            </a: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無任何硬體。純軟體／機器學習，跑在醫院既有電子病歷／檢傷系統裡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金額：</a:t>
            </a: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無硬體成本（不需買任何東西）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154680"/>
            <a:ext cx="10744200" cy="3063240"/>
          </a:xfrm>
          <a:prstGeom prst="roundRect">
            <a:avLst>
              <a:gd name="adj" fmla="val 5000"/>
            </a:avLst>
          </a:prstGeom>
          <a:solidFill>
            <a:srgbClr val="ED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282696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量到哪些徵象、訊號怎麼取得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3739896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2" y="3666744"/>
            <a:ext cx="471830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生命徵象（結構化）：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心率、呼吸、血壓、體溫、血氧，加年齡/性別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448970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0432" y="4416552"/>
            <a:ext cx="471830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血氧／心率：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來自標準指夾血氧計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5239512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70432" y="5166360"/>
            <a:ext cx="471830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血壓：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手臂壓脈帶</a:t>
            </a:r>
          </a:p>
        </p:txBody>
      </p:sp>
      <p:sp>
        <p:nvSpPr>
          <p:cNvPr id="28" name="Oval 27"/>
          <p:cNvSpPr/>
          <p:nvPr/>
        </p:nvSpPr>
        <p:spPr>
          <a:xfrm>
            <a:off x="6245352" y="3739896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01384" y="3666744"/>
            <a:ext cx="471830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體溫：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電子體溫計</a:t>
            </a:r>
          </a:p>
        </p:txBody>
      </p:sp>
      <p:sp>
        <p:nvSpPr>
          <p:cNvPr id="30" name="Oval 29"/>
          <p:cNvSpPr/>
          <p:nvPr/>
        </p:nvSpPr>
        <p:spPr>
          <a:xfrm>
            <a:off x="6245352" y="448970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01384" y="4416552"/>
            <a:ext cx="471830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主訴（文字）：</a:t>
            </a:r>
            <a:r>
              <a:rPr sz="10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護理師鍵入的一句自由文字，交給模型理解語意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4 · 急診檢傷的深度學習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② 如何結合主訴 → 做判斷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17320"/>
            <a:ext cx="10744200" cy="196596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45336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主訴怎麼收集、怎麼和徵象結合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47672"/>
            <a:ext cx="1034186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主訴是護理師打的「自由文字」。模型先把文字斷詞、轉成詞向量（embedding，讓意義相近的詞數字也相近），再和生命徵象數字一起餵進神經網路的共同層，由網路自己「學」出哪些字句代表危險，輸出重症機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370332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1. 生命徵象數字 ＋ 主訴文字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370332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FBECDC"/>
          </a:solidFill>
          <a:ln w="17780">
            <a:solidFill>
              <a:srgbClr val="E1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2. 神經網路融合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5472" y="3611880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模型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70332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3. 24h 重症機率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297680" y="407822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7589520" y="407822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5029200"/>
            <a:ext cx="2743200" cy="1143000"/>
          </a:xfrm>
          <a:prstGeom prst="roundRect">
            <a:avLst>
              <a:gd name="adj" fmla="val 7000"/>
            </a:avLst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5120640"/>
            <a:ext cx="248716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BFDDE7"/>
                </a:solidFill>
                <a:latin typeface="Segoe UI"/>
                <a:ea typeface="Microsoft JhengHei"/>
                <a:cs typeface="Microsoft JhengHei"/>
              </a:rPr>
              <a:t>最佳 AUC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0.851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50" b="0" i="0" lang="zh-TW">
                <a:solidFill>
                  <a:srgbClr val="CFE2EA"/>
                </a:solidFill>
                <a:latin typeface="Segoe UI"/>
                <a:ea typeface="Microsoft JhengHei"/>
                <a:cs typeface="Microsoft JhengHei"/>
              </a:rPr>
              <a:t>對比 ESI 只有 0.672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5029200"/>
            <a:ext cx="7799831" cy="1143000"/>
          </a:xfrm>
          <a:prstGeom prst="roundRect">
            <a:avLst>
              <a:gd name="adj" fmla="val 6000"/>
            </a:avLst>
          </a:prstGeom>
          <a:solidFill>
            <a:srgbClr val="FB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0" y="5029200"/>
            <a:ext cx="91440" cy="1143000"/>
          </a:xfrm>
          <a:prstGeom prst="rect">
            <a:avLst/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95344" y="5157216"/>
            <a:ext cx="7415783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一句帶走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重點：這是最典型的「文字＋數字」自動融合。加入主訴文字後，AUC 由 0.82 升到 0.85，遠勝傳統 ESI（0.67）。
不需人工整理症狀，讓深度學習直接讀懂主訴文字，是最靈活的結合方式。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234440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82880"/>
            <a:ext cx="8961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150" b="1" i="0" lang="zh-TW">
                <a:solidFill>
                  <a:srgbClr val="BFDDE7"/>
                </a:solidFill>
                <a:latin typeface="Segoe UI"/>
                <a:ea typeface="Microsoft JhengHei"/>
                <a:cs typeface="Microsoft JhengHei"/>
              </a:rPr>
              <a:t>論文 5 · 手機相機測血氧（原理）　—　① 訊號如何取得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8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智慧手機相機血氧偵測：誘導低血氧研究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"/>
            <a:ext cx="1554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3000" b="1" i="0" lang="zh-TW">
                <a:solidFill>
                  <a:srgbClr val="2A6A83"/>
                </a:solidFill>
                <a:latin typeface="Segoe UI"/>
                <a:ea typeface="Microsoft JhengHei"/>
                <a:cs typeface="Microsoft JhengHei"/>
              </a:rPr>
              <a:t>5 /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417320"/>
            <a:ext cx="2578608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417320"/>
            <a:ext cx="91440" cy="658368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81328"/>
            <a:ext cx="23042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任何手機都能用？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D99A2B"/>
                </a:solidFill>
                <a:latin typeface="Segoe UI"/>
                <a:ea typeface="Microsoft JhengHei"/>
                <a:cs typeface="Microsoft JhengHei"/>
              </a:rPr>
              <a:t>原理上任何手機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9856" y="1417320"/>
            <a:ext cx="2578608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9856" y="1417320"/>
            <a:ext cx="91440" cy="658368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481328"/>
            <a:ext cx="23042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需要 App？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D99A2B"/>
                </a:solidFill>
                <a:latin typeface="Segoe UI"/>
                <a:ea typeface="Microsoft JhengHei"/>
                <a:cs typeface="Microsoft JhengHei"/>
              </a:rPr>
              <a:t>要擷取用 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417320"/>
            <a:ext cx="2578608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2F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417320"/>
            <a:ext cx="91440" cy="658368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481328"/>
            <a:ext cx="23042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開源？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2F9E6A"/>
                </a:solidFill>
                <a:latin typeface="Segoe UI"/>
                <a:ea typeface="Microsoft JhengHei"/>
                <a:cs typeface="Microsoft JhengHei"/>
              </a:rPr>
              <a:t>資料＋程式開源(MIT)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33104" y="1417320"/>
            <a:ext cx="2578608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0320">
            <a:solidFill>
              <a:srgbClr val="2F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33104" y="1417320"/>
            <a:ext cx="91440" cy="658368"/>
          </a:xfrm>
          <a:prstGeom prst="rect">
            <a:avLst/>
          </a:prstGeom>
          <a:solidFill>
            <a:srgbClr val="2F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4272" y="1481328"/>
            <a:ext cx="23042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成本 vs NT$5000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zh-TW">
                <a:solidFill>
                  <a:srgbClr val="2F9E6A"/>
                </a:solidFill>
                <a:latin typeface="Segoe UI"/>
                <a:ea typeface="Microsoft JhengHei"/>
                <a:cs typeface="Microsoft JhengHei"/>
              </a:rPr>
              <a:t>低成本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2212848"/>
            <a:ext cx="10744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設備：</a:t>
            </a: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未改裝的市售手機（Google Nexus 6P）：手指蓋後鏡頭、開閃光即可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金額：</a:t>
            </a: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幾乎零成本（用手邊既有手機）→ 遠 &lt; NT$5000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154680"/>
            <a:ext cx="10744200" cy="3063240"/>
          </a:xfrm>
          <a:prstGeom prst="roundRect">
            <a:avLst>
              <a:gd name="adj" fmla="val 5000"/>
            </a:avLst>
          </a:prstGeom>
          <a:solidFill>
            <a:srgbClr val="ED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282696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量到哪些徵象、訊號怎麼取得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3739896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2" y="3666744"/>
            <a:ext cx="1004925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血氧 SpO₂：</a:t>
            </a: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手指蓋後鏡頭、閃光從內照亮組織；相機逐格記錄血液脈動造成的細微顏色(RGB)變化＝PPG 訊號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4489704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0432" y="4416552"/>
            <a:ext cx="1004925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原理 ratio-of-ratios：</a:t>
            </a: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含氧與缺氧血紅素對紅光 vs 藍/綠光吸收不同；比較各色『脈動(AC)/穩定(DC)』比值 → 反推含氧量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5239512"/>
            <a:ext cx="128016" cy="128016"/>
          </a:xfrm>
          <a:prstGeom prst="ellipse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70432" y="5166360"/>
            <a:ext cx="1004925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心率：</a:t>
            </a: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PPG 的脈動頻率本身就含心率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論文 5 · 手機相機測血氧（原理）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② 如何結合主訴 → 做判斷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17320"/>
            <a:ext cx="10744200" cy="196596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45336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0536B"/>
                </a:solidFill>
                <a:latin typeface="Segoe UI"/>
                <a:ea typeface="Microsoft JhengHei"/>
                <a:cs typeface="Microsoft JhengHei"/>
              </a:rPr>
              <a:t>主訴怎麼收集、怎麼和徵象結合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47672"/>
            <a:ext cx="1034186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本篇「不使用主訴」，只做純訊號 → 血氧。它是上游的「感測積木」：量到的 SpO₂（低於 90% 警示）本身就是一個徵象，可以接到像論文 1、4 那樣的「主訴＋徵象」融合模型裡，補上「連便宜手機都能量血氧」這一塊。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370332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1. 手機相機 PPG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370332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FBECDC"/>
          </a:solidFill>
          <a:ln w="17780">
            <a:solidFill>
              <a:srgbClr val="E1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2. CNN 估血氧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5472" y="3611880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模型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70332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17780">
            <a:solidFill>
              <a:srgbClr val="1F9E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1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3. SpO₂(&lt;90% 警示)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297680" y="407822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7589520" y="4078224"/>
            <a:ext cx="274320" cy="164592"/>
          </a:xfrm>
          <a:prstGeom prst="rightArrow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5029200"/>
            <a:ext cx="2743200" cy="1143000"/>
          </a:xfrm>
          <a:prstGeom prst="roundRect">
            <a:avLst>
              <a:gd name="adj" fmla="val 7000"/>
            </a:avLst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5120640"/>
            <a:ext cx="248716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BFDDE7"/>
                </a:solidFill>
                <a:latin typeface="Segoe UI"/>
                <a:ea typeface="Microsoft JhengHei"/>
                <a:cs typeface="Microsoft JhengHei"/>
              </a:rPr>
              <a:t>平均誤差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1" i="0" lang="zh-TW">
                <a:solidFill>
                  <a:srgbClr val="FFFFFF"/>
                </a:solidFill>
                <a:latin typeface="Segoe UI"/>
                <a:ea typeface="Microsoft JhengHei"/>
                <a:cs typeface="Microsoft JhengHei"/>
              </a:rPr>
              <a:t>MAE 5.0%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50" b="0" i="0" lang="zh-TW">
                <a:solidFill>
                  <a:srgbClr val="CFE2EA"/>
                </a:solidFill>
                <a:latin typeface="Segoe UI"/>
                <a:ea typeface="Microsoft JhengHei"/>
                <a:cs typeface="Microsoft JhengHei"/>
              </a:rPr>
              <a:t>低血氧偵測 81% 敏感度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5029200"/>
            <a:ext cx="7799831" cy="1143000"/>
          </a:xfrm>
          <a:prstGeom prst="roundRect">
            <a:avLst>
              <a:gd name="adj" fmla="val 6000"/>
            </a:avLst>
          </a:prstGeom>
          <a:solidFill>
            <a:srgbClr val="FB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0" y="5029200"/>
            <a:ext cx="91440" cy="1143000"/>
          </a:xfrm>
          <a:prstGeom prst="rect">
            <a:avLst/>
          </a:prstGeom>
          <a:solidFill>
            <a:srgbClr val="E1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95344" y="5157216"/>
            <a:ext cx="7415783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一句帶走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重點：這篇解決的是『怎麼用一支普通手機取得血氧』；把它產生的 SpO₂ 餵進前幾篇的融合模型，就能結合主訴。
本身不含主訴，但提供最便宜的血氧來源，可當作其他融合模型的輸入。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1F9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小結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zh-TW">
                <a:solidFill>
                  <a:srgbClr val="162433"/>
                </a:solidFill>
                <a:latin typeface="Segoe UI"/>
                <a:ea typeface="Microsoft JhengHei"/>
                <a:cs typeface="Microsoft JhengHei"/>
              </a:rPr>
              <a:t>兩種「結合主訴」的路線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63040"/>
            <a:ext cx="5257800" cy="4023360"/>
          </a:xfrm>
          <a:prstGeom prst="roundRect">
            <a:avLst>
              <a:gd name="adj" fmla="val 5000"/>
            </a:avLst>
          </a:prstGeom>
          <a:solidFill>
            <a:srgbClr val="FB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E17A2E"/>
                </a:solidFill>
                <a:latin typeface="Segoe UI"/>
                <a:ea typeface="Microsoft JhengHei"/>
                <a:cs typeface="Microsoft JhengHei"/>
              </a:rPr>
              <a:t>A. 自動融合（模型）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4855464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把徵象數字＋主訴一起餵給模型，直接輸出風險/分級</a:t>
            </a:r>
          </a:p>
          <a:p>
            <a:pPr algn="l" indent="-137160" marL="18288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論文 1 Smart Triage：勾選症狀＋SpO₂ 進 Logistic</a:t>
            </a:r>
          </a:p>
          <a:p>
            <a:pPr algn="l" indent="-137160" marL="18288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論文 2 PIERS：症狀＋SpO₂ 進 miniPIERS</a:t>
            </a:r>
          </a:p>
          <a:p>
            <a:pPr algn="l" indent="-137160" marL="18288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論文 4 Joseph：主訴『自由文字』進神經網路（最靈活）</a:t>
            </a:r>
          </a:p>
          <a:p>
            <a:pPr algn="l" indent="-137160" marL="18288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論文 5 Hoffman：提供便宜 SpO₂，可當上游輸入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463040"/>
            <a:ext cx="5257800" cy="402336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91056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50" b="1" i="0" lang="zh-TW">
                <a:solidFill>
                  <a:srgbClr val="1F9EB3"/>
                </a:solidFill>
                <a:latin typeface="Segoe UI"/>
                <a:ea typeface="Microsoft JhengHei"/>
                <a:cs typeface="Microsoft JhengHei"/>
              </a:rPr>
              <a:t>B. 人工融合（醫師）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93392"/>
            <a:ext cx="4855464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37160" marL="18288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便宜設備只負責把徵象＋症狀變成客觀數據</a:t>
            </a:r>
          </a:p>
          <a:p>
            <a:pPr algn="l" indent="-137160" marL="18288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上傳儀表板，由醫師看趨勢判斷惡化</a:t>
            </a:r>
          </a:p>
          <a:p>
            <a:pPr algn="l" indent="-137160" marL="18288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論文 3 e-CoVig 走這條路</a:t>
            </a:r>
          </a:p>
          <a:p>
            <a:pPr algn="l" indent="-137160" marL="18288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sz="120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優點：不需訓練資料、可解釋；缺點：仍要人力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5669280"/>
            <a:ext cx="10744200" cy="566928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5669280"/>
            <a:ext cx="91440" cy="566928"/>
          </a:xfrm>
          <a:prstGeom prst="rect">
            <a:avLst/>
          </a:prstGeom>
          <a:solidFill>
            <a:srgbClr val="105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5797296"/>
            <a:ext cx="1036015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50" b="0" i="0" lang="zh-TW">
                <a:solidFill>
                  <a:srgbClr val="33414F"/>
                </a:solidFill>
                <a:latin typeface="Segoe UI"/>
                <a:ea typeface="Microsoft JhengHei"/>
                <a:cs typeface="Microsoft JhengHei"/>
              </a:rPr>
              <a:t>訊號取得越便宜（手機相機/麥克風/外掛），就越能把「量徵象＋聽主訴」下放到第一線，補上沒有專業設備的缺口。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 i="0" lang="zh-TW">
                <a:solidFill>
                  <a:srgbClr val="6B7885"/>
                </a:solidFill>
                <a:latin typeface="Segoe UI"/>
                <a:ea typeface="Microsoft JhengHei"/>
                <a:cs typeface="Microsoft JhengHei"/>
              </a:rPr>
              <a:t>低成本設備 × 生命徵象 × 主訴 → 初步檢傷 / 急症判斷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