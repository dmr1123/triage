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240280"/>
          </a:xfrm>
          <a:prstGeom prst="roundRect">
            <a:avLst>
              <a:gd name="adj" fmla="val 1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2240280"/>
            <a:ext cx="12191695" cy="64008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89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工具檢索方法重現手冊:21 個方法逐一拆解</a:t>
            </a:r>
          </a:p>
          <a:p>
            <a:pPr algn="l"/>
            <a:r>
              <a:rPr sz="1450" b="0">
                <a:solidFill>
                  <a:srgbClr val="BFDBFE"/>
                </a:solidFill>
                <a:latin typeface="Microsoft JhengHei"/>
                <a:ea typeface="Microsoft JhengHei"/>
                <a:cs typeface="Microsoft JhengHei"/>
              </a:rPr>
              <a:t>綜述的重現級版本 —— 每個方法給到「看完就能理論上重現」的完整步驟、公式與原文數字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789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涵蓋六大類(對應綜述分類):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　A 免訓練:Re-Invoke、EasyTool、Toolshed、AnyTool、ToolRerank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　B 訓練檢索器:ToolLLM-IR、COLT、TinyAgent、ToolRet-train、DTDR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　C 圖/依賴:ToolNet、Tool Graph Retriever　|　D 生成式:ToolkenGPT、ToolGen、Octopus v2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　E 呼叫端微調:Gorilla、Hammer、ToolACE　|　F MCP 專屬:RAG-MCP、MCP-Zero、ScaleMCP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閱讀約定:步驟為原論文重現級整理;查不到的細節在頁尾標「未公開」,不虛構;數字皆原論文回報。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配套:入門簡報(白話版)、綜述 markdown(引用與 benchmark 總表)。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導覽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21 個方法在管線上的位置(依「在哪一步動手腳」)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377440" cy="841248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402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查詢/文件改寫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463040"/>
            <a:ext cx="8503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A:Re-Invoke、EasyTool、Toolshed(前處理)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14016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414016"/>
            <a:ext cx="2377440" cy="841248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6"/>
            <a:ext cx="22402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檢索器本體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414016"/>
            <a:ext cx="8503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A:AnyTool|B:ToolLLM-IR、COLT、TinyAgent、ToolRet、DTDR|C:ToolNet、TGR|F:RAG-MCP、MCP-Zero、ScaleMCP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64992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364992"/>
            <a:ext cx="2377440" cy="841248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64992"/>
            <a:ext cx="22402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檢索後重排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364992"/>
            <a:ext cx="8503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A:ToolRerank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15968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315968"/>
            <a:ext cx="2377440" cy="841248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15968"/>
            <a:ext cx="22402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LLM 本體(工具=詞元)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15968"/>
            <a:ext cx="8503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D:ToolkenGPT、ToolGen、Octopus v2(檢索內化成生成)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66944"/>
            <a:ext cx="11201400" cy="841248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5266944"/>
            <a:ext cx="2377440" cy="841248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66944"/>
            <a:ext cx="22402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呼叫端微調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266944"/>
            <a:ext cx="85039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E:Gorilla(檢索感知)、Hammer(遮罩)、ToolACE(合成資料)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每頁版型:左=重現級步驟|右=原文數字卡+關鍵設計註記|頁尾=出處與「未公開」警語。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A 類|Re-Invoke(Findings of EMNLP 2024,Google)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免訓練檢索:LLM 幫「工具文件」與「使用者查詢」兩端改寫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問題:工具庫上萬時,verbose 查詢 vs 工程師寫的文件,語言不對頻 → 零訓練下把兩端翻譯成同一種語言。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離線|Query Generator:每份工具文件 d 丟給 LLM(text-bison@001,T=0.7):「這工具會被怎麼問?」生成 m=10 條多樣合成查詢 t₁..t₁₀(消融確認 10 條最佳)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文件擴充:每條合成查詢各自與原文件串接 → 10 份「擴充副本」d'ⱼ=concat(tⱼ,d),各自用 textembedding-gecko@003 嵌入入索引(不是併成一份!);sparse 版改用 BM25 對擴充文本建索引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線上|Intent Extractor:使用者查詢 Q 丟給同一 LLM(T=0,確定性):抽出核心工具意圖、濾掉背景雜訊;多需求直接拆成 n 條意圖句 q₁..qₙ,各自嵌入到同一向量空間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相似度:每個意圖 qᵢ 對每個工具:對其 10 份副本的相似度取平均 s(qᵢ,d)=(1/m)·Σⱼ sim(E(qᵢ),E(d'ⱼ))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多意圖合併(multi-view ranking):每意圖內做反向名次 rᵢ(d)∈{1..|D|}(最像=|D|);工具最終分數 R(Q,d)=maxᵢ(rᵢ(d), s(qᵢ,d))(tuple 字典序)→ 只要對任一意圖排很前就靠前 → 取 top-k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+20% / +39%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nDCG@5 相對提升
(ToolE 單/多工具)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.388→.538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ToolBench I2
(13,142 工具)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.463→.596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ToolBench I3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0 訓練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全程 LLM 生成
+ 現成向量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一條合成查詢配一份副本、分數層取 mean:消融證實優於合併/其他聚合。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Backbone 換 gpt-3.5-turbo / Mistral-7B 泛化成立。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多意圖 max-合併對多工具場景(I2/I3)增益最大。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出處:arXiv:2408.01875(ACL Anthology 2024.findings-emnlp.270)。逐字 prompt 在附錄,未公開處:相似度是否 cosine、平手處理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A 類|EasyTool(NAACL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把又長又亂的工具文件改寫成統一精簡「工具指令」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問題:工具文件格式不一、冗長、缺參數範例 → 用 ChatGPT 改寫兩段式指令,零訓練、零標註。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蒐集各 benchmark 原始工具文件(ToolBench/RestBench/FuncQA);一次處理單份文件、不考慮工具間依賴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階段一「描述生成」:ChatGPT + few-shot 範例把文件改寫成「一句總功能 + 逐條列出 N 個 API」的精簡描述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階段二「功能指南」:第二個 prompt 讓 ChatGPT 抽出每個 API 的參數清單,並「造一個使用情境 + 對應參數值」當示範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品質驗證:生成的範例參數實際丟進工具執行確認可呼叫;100 份×3 位標註者人工抽查全數合格;把 prompt 改寫 3 次重生成,win/tie/lose ≈ 2%/96%/2% —— 對措辭不敏感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推論管線:task_decompose 拆子任務 → task_topology 輸出依賴 DAG → 每子任務 tool_check(不需工具就直接答)→ 選工具+填參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檢索版:text-embedding-ada-002 對「EasyTool 描述」做 cosine 取 top-10 —— 改寫連檢索都變準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2,530→748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工具文件 tokens
(−70.4%,ToolBench)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52.8 vs 15.0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ChatGPT Success%
(EasyTool vs 原文件)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0 → 37~47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Vicuna/Mistral-7B:
原文件全掛→救活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76.7/85.6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Ada+EasyTool 描述 NDCG@1/@5
(反超 BERT 檢索器)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兩個改寫 prompt 逐字在論文附錄;GPT-4 當 agent 時 Success 70.0(全場最佳)。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開源 7B 用原始文件成功率 0.0 —— 文件品質是被低估的槓桿。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參數示範讓「填參」而不只「選工具」受益。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出處:NAACL 2025(2025.naacl-long.44)/ arXiv:2401.06201。未公開:ChatGPT 確切版本與 temperature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A 類|Toolshed(ICAART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「進階 RAG 全家桶」搬到工具檢索:前/中/後三階段組合拳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問題:工具數百~數千、超過函式呼叫上限 → 免微調,靠工具知識庫 + 檢索前中後全套技巧把 Recall@5 拉滿。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前|文件增強:每工具建「增強文件」= 格式化名稱 + 描述 + 參數 schema + N 條「此工具能回答的假設問題」(串接、一工具一文件、不切塊)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前|索引:text-embedding-3-large 嵌入 → FAISS 向量庫(= Toolshed Knowledge Base)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中|查詢處理:LLM 改寫(消歧義/補代詞)→ 分解成 1–4 個子意圖 → 每子意圖再生成 n 個措辭/抽象度不同的變體(demo n=2)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中|初次檢索:子意圖與每個變體各自嵌入、各取 top-k(demo k=5)候選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後|兩層重排:意圖內 LLM reranker 取 top-k → 跨意圖合併重排成最終 top-5(先各取 ⌊k/意圖數⌋、重疊遞補);(選配)self-reflection 補撈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全程 GPT-4o(2024-05-13)做生成/重排;無任何微調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+46/+56/+47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Recall@5 絕對提升
(ToolE 單/多、Seal-Tools vs BM25)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0.876 vs 0.410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Seal-Tools Recall@5
(vs BM25)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+5% / +9%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ToolE 單/多工具
vs Re-Invoke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95–100%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任意工具庫規模×top-k
的檢索準確率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消融:ToolE 上「文件增強+多查詢變體」貢獻最大;Seal-Tools 上「查詢分解」最大(多工具查詢佔比高)。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top-k↑=召回↑但 API token 成本線性↑ —— 明碼標價的取捨。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與 Re-Invoke 同思路(兩端改寫)但堆得更滿。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出處:ICAART 2025(SciTePress)/ arXiv:2410.14594。未公開:ToolE 逐格絕對值、每工具假設問題數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A 類|AnyTool(ICML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GPT-4 當「階層式檢索代理」:免訓練、免向量庫、會自我反省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問題:16,464 個 API 怎麼找?讓 GPT-4 沿著 category→tool→API 的階層自己逐層探索,失敗帶原因重找。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沿用 ToolBench 的 RapidAPI 三層結構(49 類/16,464 API),建三層查詢函式庫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三層 agent 全由 GPT-4 function calling 驅動:meta-agent(看全部 category、可建 category agent)→ category agent(看 tool 清單、建 tool agent)→ tool agent(每個管 ≤5 個 tool,可把 API 加入候選池,池上限 64)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早停:每次加 API 後由 GPT 判 Solvable/Unsure/Unsolvable,非 Unsolvable 即全域停止搜尋進入解題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Solver:沿用 ToolLLM 的 DFSDT(GPT-4)在候選池上解題;答案含 sorry/cannot 等詞直接判失敗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Self-reflection:失敗 → 從池中剪除被點名的 API、保留失敗原因與最後軌跡,喚醒「最深且未完成」的 agent 帶著原因繼續搜尋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評測修訂:人工剔除 626 條真不可解 query(filtered ToolBench),只在可解題上算 pass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58.2%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平均 pass rate(6 子集)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+35.4 pt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vs 原版 ToolLLM(22.9%)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+19.3 pt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vs GPT-4+參考API(38.9%)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0 訓練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但 GPT-4 多輪呼叫
→ 貴且慢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與輕量檢索器是光譜兩端:用推理成本換免訓練與高品質。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候選池上限 64;tool agent 每個只管 5 個工具 —— 分而治之。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另附 AnyToolBench(GPT-4 自動探索資料庫生成,407 條)。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出處:ICML 2024(PMLR 235:11812)/ arXiv:2402.04253。未確認:GPT-4 快照(程式碼 gpt-4-32k)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A 類|ToolRerank(LREC-COLING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檢索後精排:對「沒見過的工具」放寬、對查詢類型調結構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問題:reranker 對訓練沒見過的工具差、且忽略 tool→API 階層 → 自適應截斷 + 階層感知重排。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5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管線:dual-encoder 粗排(cosine)→ 截斷 → cross-encoder 精排 → 階層調整;三個模型皆 bert-base-uncased 初始化,在 ToolBench 上訓練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Adaptive Truncation:設兩個閾值 m_s &lt; m_u;粗排第 i 名候選若屬「訓練見過的 tool」→ i≤m_s 才餵給 reranker;沒見過的放寬到 i≤m_u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動機實測:seen 集上 Rerank-30/50(固定深度)反而輸給純 DPR —— seen 工具粗排已準,餵太多讓 reranker 幫倒忙;unseen 則要更深候選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查詢分類器判 single-tool / multi-tool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階層感知重排:單工具查詢 → top 結果「集中」在同一 tool 的 API;多工具查詢 → 候選建圖取連通元件,讓結果跨 tool「多樣」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評測:六個子集(3 seen + 3 unseen,各 100 query)NDCG@5/Recall@5 + 下游 LLM 執行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6/6 全勝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全部子集、兩指標
一致優於所有基線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Rerank-30/50 &lt; DPR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seen 集上固定深度
重排反而傷(核心發現)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m_s &lt; m_u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唯一有效的截斷關係
(消融證實)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3×BERT-base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檢索/重排/分類器
全 110M 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E7C7B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教訓:重排不是候選越多越好 —— seen/unseen 要區別對待。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tool→API 階層是免費結構訊號:單工具集中、多工具多樣。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下游驗證:檢索變好 → LLM 執行結果跟著好。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出處:LREC-COLING 2024(2024.lrec-main.1413)/ arXiv:2403.06551。未公開:m_s/m_u 數值、Table 3 逐格、訓練超參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B 類|ToolLLM API Retriever(ICLR 2024 Spotlight)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對比學習雙塔的開山標配 —— 之後所有論文的最強公版基線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問題:16,464 個真實 API 靠人工挑候選不現實 → 用 ChatGPT 標的資料訓一個 Sentence-BERT 雙塔。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爬 RapidAPI Hub 16,464 個 API(49 類),保留名稱/描述/參數的 JSON 文件 = 檢索 corpus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ChatGPT 對抽樣 API 組合生成使用者指令 + 該指令的 relevant APIs 清單(I1 單工具 / I2 類內多工具 / I3 集合內多工具);再用 ChatGPT+DFSDT 找有效解答路徑,找得到的才留下(126,486 條)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檢索資料:query=指令;文件=單一 API 完整 JSON;該 API 在 relevant 清單中 → label=1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模型:Sentence-BERT 雙塔共享權重(bert-base-uncased、max_len 256、mean pooling);相關性 = cosine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訓練:MultipleNegativesRankingLoss(in-batch 負例 InfoNCE);5 epochs、batch 32、lr 2e-5、warmup 500;以 test qrels 的 NDCG 選 checkpoint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推論:API 全庫離線編碼;新指令 cosine top-k → 候選交給 ToolLLaMA+DFSDT 多輪決策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78.0 / 84.9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平均 NDCG@1/@5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18.5 / 17.0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BM25 對照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49.6 / 45.4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OpenAI ada-002 對照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I1 &gt; I2/I3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單工具比多工具好找
(84.2/89.7 vs 68.2/77.9)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逐格:I1 84.2/89.7、I2 68.2/77.9、I3 81.7/87.1(NDCG@1/@5)。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checkpoint 公開(ToolBench_IR_bert_based_uncased);ToolGen 重測與原表一致。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訓練標籤來自 ChatGPT 標註 —— 品質天花板在 teacher。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出處:ICLR 2024 Spotlight / arXiv:2307.16789。註:超參數出自官方 repo 而非論文正文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B 類|COLT(CIKM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從「找相似」到「湊齊一套」:scene + 雙視角圖對比學習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問題:語意檢索抓回一堆相似冗餘工具,湊不齊「金價+股價+匯率」這種互補組合 → 顯式建模協作關係。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定義 scene = 某 query 的完整 ground-truth 工具組合;由訓練集建三個二部圖:Q–T(查詢-工具)、Q–S(查詢-scene)、S–T(scene-工具)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Stage-1 語意學習:現成 dense 檢索器(ANCE/TAS-B/coCondenser/Contriever)以 MNRL 微調(batch 16、5 epochs、max_len 350)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Stage-2 初始化:Stage-1 向量當節點嵌入初始值(可訓練);scene 初始 = 成員工具平均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雙視角 LightGCN 傳播(無參數):tool-level 在 Q–T 圖、scene-level 在 Q–S 圖各傳播 L=1 層;訓練時每 epoch 做 edge dropout 0.2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跨視角圖對比:同一 query 的 (TL,SL) 嵌入為正對、batch 內其他為負(InfoNCE);scene 端同理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List-wise 多標籤損失:正例+隨機負例補滿 10 個候選,分數 = cos(TL)+cos(SL),標籤 = 正例均勻分佈;總損失 L_rank+0.04·L_CL;lr 1e-3、batch 2048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COMP@K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新指標:Top-K「湊齊整套」
才算對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11M &gt; 340M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BERT-mini+COLT 勝
BERT-large(30× 參數)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Elo 全勝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下游 LLM 回覆
四維評分最高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18,770 / 464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自建 ToolLens:query/工具
(每題 1–3 工具)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zero-shot dense 甚至輸 BM25;微調後 COMP 仍差,+COLT 才補上 —— 完整性需要顯式建模。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model-agnostic:可疊在任何雙塔檢索器上。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選模用 Recall@3 與 COMP@3 同時刷新才存檔。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出處:CIKM 2024(pp.1930–1940)/ arXiv:2405.16089。未公開:Table 3 逐格(以上依官方碼+摘要重建)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B 類|TinyAgent ToolRAG(EMNLP 2024 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端側函式呼叫:工具選擇=多標籤分類,1.1B 本地贏 GPT-4-Turbo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場景:16 個 macOS 工具的筆電本地代理 → 微調 DeBERTa 小模型一次選出「這題用得到的工具子集」。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任務框架:LLMCompiler 式 planner —— 一次輸出整個函式呼叫 DAG(函式+引數+依賴),非逐步 ReAct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資料合成:GPT-3.5 生成指令、GPT-4-Turbo 生成 ground-truth 計畫;80K train / 1K val / 1K test(API 成本約 $500)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模型微調:TinyLlama-1.1B / Wizard-2-7B 用 LoRA 3 epochs;成功率 12.71→78.89 / 41.25→83.09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ToolRAG:微調 DeBERTa-v3-small 做 16 維多標籤分類;推論選機率 &gt;50% 的工具(平均 3.97 個),只把選中工具放進 planner prompt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量化部署:llama.cpp 4-bit(group 32)→ 延遲 −30%、體積 ÷4,成功率不降;MacBook M3 本地執行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評測 = 生成計畫的 DAG 與標準計畫 DAG「同構」才算對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0.998 vs 0.949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ToolRAG vs 基本 top-3
向量檢索的工具召回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84.95%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TinyAgent-7B 成功率
(GPT-4-Turbo 79.08%)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80.06%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TinyAgent-1.1B
(1.1B 也贏 GPT-4-Turbo)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2,762 →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No-RAG prompt tokens
ToolRAG 大幅削減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多標籤分類比 top-k 向量檢索更貼「組合選取」的本質。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DAG 同構評測後被 DTDR 沿用;DTDR 並指出其弱點:不看呼叫歷史,長計畫崩(→歷史感知的動機)。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全管線開源(SqueezeAILab)。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出處:EMNLP 2024 System Demos(2024.emnlp-demo.9)/ arXiv:2409.00608。未公開:LoRA 超參、量化逐格延遲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B 類|ToolRet-train(Findings of ACL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先證明「會找文件≠會找工具」,再用 20 萬筆資料補課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問題:現成 IR 模型在工具檢索上全面疲軟 → 建第一個工具檢索 benchmark + 大規模訓練集微調。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Benchmark(ToolRet):35 個資料集彙整去重 → 7.6k 檢索任務、43k 工具(Web/Code/Customized 三類)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GPT-4o 為每個 query 生成 target-aware instruction;評測分 w/ inst. 與 w/o inst.;指標 nDCG@10、Completeness@10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訓練集:取 ToolACE + APIGen + ToolBench 訓練切分 → 200k+ (query, 正例工具) 檢索任務,同法配 instruction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負例挖掘:用 NV-embed-v1(zero-shot 最強者)對工具庫檢索,每任務配 10 個 hard negatives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微調:e5-base/large、bge-base/large 做對比學習(拉近正例、推開負例);微調後模型已釋出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下游驗證:微調前後 retriever 插進 GPT-3.5 / ToolLLaMA 跑 ToolBench 端到端,對照 pass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33.83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zero-shot 最強模型的
nDCG@10(NV-embed-v1)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7.6k / 43k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檢索任務 / 工具
(35 個資料集)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200k+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ToolRet-train
訓練任務數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&gt;100%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部分子集 pass rate
相對提升(微調後)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核心訊息:工具檢索是需要「專門訓練」的能力 —— IR 榜強者照樣掛。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hard negative 用最強 zero-shot 模型挖 —— 負例品質決定微調上限。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檢索品質提升會直接帶動 agent 端 pass rate。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出處:Findings of ACL 2025(2025.findings-acl.1258)/ arXiv:2503.01763。未公開:訓練超參、逐模型前後值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B 類|DTDR(arXiv 2512.17052,Qualcomm)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歷史感知檢索:把「已呼叫序列」也餵給檢索器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問題:靜態檢索器每步給同一批工具,長計畫排序崩壞 → 讓檢索器同時看查詢 q 與已呼叫歷史 f₀:ₜ₋₁。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資料:示範軌跡集(每題一條 ground-truth 計畫,可表為依賴 DAG);每步的「正確工具集 F*ₜ」=DAG 上前置已滿足、尚未呼叫者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DTDR-L(監督):凍結句向量模型(paraphrase-MiniLM-L6-v2,384 維)上訓 1 層線性分類器 φ;輸入 ζ=embed(q + f₀:ₜ₋₁ 字串串接),對每工具做獨立 BCE(正例 ⟺ f∈F*_{q,t},逐步展開訓練);Adam lr=1e-3、decay 0.9、wd=1e-5、10 epochs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DTDR-L 推論:Fₜ={f | softmax φ(ζ) &gt; α},α 掃 {0.2,0.23,0.5} 依函式選擇正確率定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DTDR-C(無監督):示範查詢 K-means 分群(K≈訓練集數/10);每群用滑動窗建 N 階 Markov 工具依賴圖(N=3 最佳;歷史 tuple → 下一工具機率,'start' 左補);推論=查詢找最近群、歷史查表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編碼進 prompt:加權 Hard Masking —— 只留檢索到的工具(附機率),其餘從 prompt 刪除;分布偏移大時改用不加權版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65.1 vs 25.6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函式選擇正確率
(vs 靜態檢索器,0.6B)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+23%~104%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端到端成功率
(vs SOTA 靜態基線)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−73%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總 prompt 長度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85.1% vs 12.9%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9 步長計畫 Top-1
(DTDR-L vs 靜態)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評測:FSA=選的函式 ∈ 該步 DAG 可接受集;SR=計畫 DAG 與標準同構且參數全對。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靜態 LR=只用查詢版;靜態 DR=DTDR-C(K=1,N=1)——退化關係內建消融。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歷史長度 l=3 前持續受益;示範 &lt;1k 時 DTDR-L 過擬合、DTDR-C 較穩。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出處:arXiv:2512.17052(本地 PDF 精讀,含 Algorithm 1–7);TinyAgent/TaskBench 四資料集、Qwen3 0.6B–14B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C 類|ToolNet(arXiv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數千工具不塞清單:建「工具轉移圖」,每步只看目前節點的後繼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問題:工具清單隨規模爆炸 → 把工具組成有向加權圖,LLM 在圖上一步步導航,context 不隨工具數膨脹。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圖定義:節點=工具(含 Finish);有向邊權=「用完 i 接著用 j」的轉移分數;整體稀疏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靜態建構:從既有軌跡統計相鄰工具對的 2-gram 轉移頻率,歸一化為 P(j|i) 當初始邊權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動態建構:沒有軌跡就從全連接等權初始化,靠線上更新收斂;新工具可快速併入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線上更新:LLM 當 Tool Evaluator 對軌跡中每個工具打分 Δ∈[−3,3],累加後經映射函數轉成權重調整量、與初始權重插值 —— 壞掉的工具入邊被壓低、備援工具被抬升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推論:第 0 步用語意檢索器選起始工具(只拿 top-1);之後每步只把「後繼工具+權重(乘 10 取整)」放 prompt,LLM 從小候選集選;ReAct 迴圈,8 步上限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全程免訓練(gpt-3.5-turbo 凍結);「學習」都在圖的邊權上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0.61 vs 0.45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SciQA EM(vs ReAct,
token 省一半)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16.4%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TabMWP token 用量
(vs Reflexion 24,710)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0.83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APIBank EM
(+Reflexion,token 38.5%)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top-1 起步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對照組一次拿 8 個候選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對故障工具有韌性:Evaluator 更新會自動繞開壞 API。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弱點(DTDR 指出):只看上一步、一階轉移被高頻共現誤導、不看查詢。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權重呈現格式消融:乘 10 取整數最佳。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出處:arXiv:2403.00839(未見會議版)。未公開:α/β 值、Evaluator prompt、後繼截斷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C 類|Tool Graph Retriever(arXiv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把「執行依賴」揉進向量:判別器建圖 + 無參數圖卷積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問題:語意相似漏掉前置工具(UpdateEmail 要先 Login)→ 先判依賴建圖,再用圖卷積讓向量帶上依賴。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依賴定義:t_a 需要 t_b 的輸出/授權;工具對三分類 ⟨a依賴b / 無 / b依賴a⟩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TDI300K 預訓練子集(自動):CodeSearchNet 178 萬函式 → 三個 gpt-3.5 agent(抽工具文件 → 生成依賴它的工具 → 驗證)造出 92k×3 平衡樣本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微調子集(人工):真實工具人工標依賴(1,029/33,365/1,056 刻意不平衡貼近真實);測試集由 API-Bank 人工標(60/500/60)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判別器:BERT-base 三分類;平衡集預訓練(標準 CE)→ 不平衡集微調(按類別取平均的 CE 抑制多數類)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離線建圖:判別器掃候選工具對 → 有向依賴圖;ToolBench 按 category 分群內建圖(僅 I1;跨類太貴)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編碼與檢索:G(X,A)=D^{-1/2}(A+I)D^{-1/2}X 一次無參數圖卷積更新工具向量 → 線上照常 cosine top-k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0.714→0.761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API-Bank Recall@5
(ToolBench-IR +TGR)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0.531→0.595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Pass Rate@5
(整套工具全召回)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0.659→0.736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PMLM-L3-v2 +TGR
Recall@5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276k+35k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TDI300K:自動生成
+ 人工標註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Pass Rate=所需工具「全部」被召回的比例 —— 完整性口徑(與 COLT 呼應)。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疊在已微調的 ToolBench-IR 上仍再創 SOTA;圖越密增益越大。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依賴判別是離線一次性成本,線上零額外延遲。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出處:arXiv:2508.05152(未見會議版)。未公開:判別器超參、附錄 prompt、鄰接矩陣方向約定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D 類|ToolkenGPT(NeurIPS 2023 Oral)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凍結 LLM,把每個工具當「新 token」—— 只訓 embedding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問題:微調貴、ICL 塞不下大量工具 → 詞表旁掛一排「工具詞元」,LLM 本體全凍結。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資料:含工具呼叫的示範文本,標好呼叫 span 起訖;span 首 token 的 label 改為 toolken id(=32000+tool_id)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模型:凍結 LLaMA-13B/33B(fp16);只加 W_τ∈R^{|T|×d}(無 bias 線性層)接在 LM head 旁;logits = [原詞表 32000 ; 工具 |T|] 串接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訓練:只更新 W_τ;cross-entropy、Adam、batch=1、10 epochs;以 dev 的 toolken P/R/F1 選 checkpoint —— 資產僅 |T|×d 個參數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推理模式:貪婪解碼(工具 logits 可加常數 bias 調 precision/recall);argmax 命中 toolken → 切換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工具模式:換該工具專屬 few-shot 模板讓模型補參數(關閉 toolken head),生成到「)」停;Python eval 執行、結果回填文字、回到推理模式(短暫禁數字 token 防止自己亂接);失敗則回溯取次高 token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任務特化:KAMEL 每題一次呼叫;VirtualHome 逐 token 生成+遮蔽不可用動作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4 → 13 工具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GSM8K-XL→FuncQA:ReAct
因示範塞不下而選錯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33B &gt; ChatGPT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FuncQA(原文結論)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~0.95 持平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KAMEL 30→234 關係
(ICL 掉到 ~0.1)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|T|×d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全部可訓練參數
(13 工具×6656 維)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「工具=詞元」路線開山;新工具=只訓新 embedding,隨插隨用。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logits bias 是關鍵旋鈕:GSM8K-XL 3.0、FuncQA 2.7~4.0。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弱點:需要標好呼叫點的示範資料;參數填寫仍靠 few-shot 模板。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出處:NeurIPS 2023 Oral / arXiv:2305.11554。未公開:主表逐格數字(訓練細節依官方碼)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D 類|ToolGen(ICLR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47k 工具全部塞進詞表:檢索與呼叫都變 next-token 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問題:外掛檢索器+塞文件的管線又長又佔 context → 工具虛擬化成 token,一個模型端到端。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工具虛擬化:46,985 個工具各配一個新 token &lt;&lt;Tool&amp;&amp;API&gt;&gt;;Llama-3-8B 詞表 128,256→175,241;新 embedding 用組成詞的既有 token embedding 平均初始化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索引法對照:Semantic/Numeric/Hierarchical/Atomic 四種 —— Atomic(每工具恰 1 個 token)端到端最佳且配受限解碼幻覺為零 → 採用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Stage-1 工具記憶:輸入=工具文件、輸出=其 token;每工具一筆;8 epochs、lr 2e-5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Stage-2 檢索訓練:輸入=query、輸出=相關工具 token(I1/I2/I3 混訓 1 epoch)→ 可單獨當生成式檢索器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Stage-3 代理微調:ToolBench DFS 軌跡中工具名全換 token;system prompt 移除工具文件(呼叫後系統回饋文件再生成參數);1 epoch、max_len 6144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推論:檢索=constrained beam search(Trie 遮罩非法 token,beam=5);代理迴圈 Thought→Action(限工具 token)→Args,16 步上限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91.54 vs 74.99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Multi-Domain I1 NDCG@5
(vs ToolRetriever)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88.84 / 84.79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I2 / I3 NDCG@5
(47k 全工具空間)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54.19 / 49.70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端到端 SoPR / SoWR
(G.T. 設定,全場最佳)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0 幻覺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受限解碼保證
只生成合法工具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檢索贏訓練雙塔,部分超越帶 GPT-3.5 迭代回饋的 IterFeedback 管線。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R. 設定:對手用檢索器、ToolGen 不用 —— 仍居首(SoPR 53.28)。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代價:工具上下架要動詞表與 embedding(與 MCP 動態生態緊張)。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出處:ICLR 2025(OpenReview XLMAMmowdY)/ arXiv:2410.03439。未公開:In-Domain 逐格、各階段樣本數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D 類|Octopus v2(arXiv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端側 2B 的極致:每個 API 一個 functional token,0.38 秒/呼叫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場景:20 個 Android API 固定不變 → 函式名預測壓縮成「單 token 分類」,context 不放任何描述。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函式集:20 個 Android API(系統/App/智慧裝置),整理成帶 docstring 的定義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詞表加 &lt;nexa_0&gt;…&lt;nexa_19&gt; + &lt;nexa_end&gt;;函式名預測=生成一個 token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資料合成(Google Gemini):每 API 生成 positive 查詢+呼叫參數、negative(不該呼叫)查詢,再由 Gemini 做二元驗證,不合格重生成;主設定每 API 1,000 筆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訓練:Gemma-2B;weighted cross-entropy(functional token 出現頻率極低 → 權重調高抗不平衡);full FT 與 LoRA(r16 α32)兩版;AdamW lr 5e-5、3 epochs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推論:固定模板包 query;生成 &lt;nexa_i&gt; 決定函式 → 參數 → &lt;nexa_end&gt; 早停;token→函式對照表還原呼叫;手機以量化版部署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99.524%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函式呼叫準確率
(GPT-4 98.571%)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0.38 秒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單次呼叫延遲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−95%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context 長度
(vs RAG 式做法)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~35×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延遲改善
vs Llama-7B+RAG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negative 樣本教「不該呼叫」—— 拒答能力是資料設計出來的。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消融:每 API 1,000/500/100 筆與 LoRA 版(逐格數字未公開)。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適用前提:工具集固定;工具一變就要重訓 —— D 類共同代價。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出處:arXiv:2404.01744(未見會議版)。未公開:token 權重值、各基線逐格數字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E 類|Gorilla RAT(NeurIPS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檢索感知微調:訓練時就讓模型「帶著檢索文件」學寫呼叫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問題:API 多、功能重疊、還會改版 → 微調時附上(可能檢錯的)檢索文件,教模型判斷可不可信。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APIBench:爬 TorchHub 94 / HuggingFace 925 / TensorHub 626 = 1,645 個 API,model card 轉統一 JSON 文件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Self-instruct:每資料集手寫 6 個範例;每個 API 抽 3 個當 in-context,讓 GPT-4 生成 10 條真實使用情境指令(不得提及 API 名)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轉單輪 user-agent 對話格式,LLaMA-7B 標準指令微調(5 epochs、lr 2e-5、cosine、8×A100)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RAT 關鍵:訓練輸入額外附「Use this API documentation for reference: &lt;檢索文件&gt;」—— 文件來自真實檢索器輸出、可能檢錯,但 label 永遠是正確呼叫 → 模型學會「可信則參考、不可信則忽略」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推論:zero-shot 或 BM25/GPT-Index 檢索模式(Oracle 上界)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評測:輸出解析成 AST 與資料庫做子樹匹配(只比關鍵引數);區分:正確 / 呼叫錯 API / 幻覺(不存在的 API)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+20.43 pt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zero-shot 功能正確率
vs GPT-4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59.1/71.7/83.8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Torch / HF / Tensor Hub
0-shot 準確率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幻覺 = 0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TorchHub + GPT-Index
/ Oracle 設定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1,645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APIBench API 數
(自建)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AST 子樹匹配評測成為後來 BFCL 的基礎。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RAT = 檢索器與模型「共生」:API 改版換文件即可,免重訓。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幻覺與「呼叫錯 API」被明確區分 —— 評測口徑值得沿用。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出處:NeurIPS 2024(OpenReview tBRNC6YemY)/ arXiv:2305.15334。未公開:對照組逐格;TensorHub 626/696 內文不一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E 類|Hammer(ICLR 2025 Spotlight)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函式遮罩:把名稱換亂碼,逼模型讀描述 —— 跨基準最穩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問題:模型愛背函式名、換一批工具就崩 → 訓練時遮名稱 + 教拒答,端側 0.5B–7B 全系穩健。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資料:xlam-function-calling-60k(APIGen 自動生成+驗證的單輪函式呼叫)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造 irrelevance 集:抽 7,500 筆,把正確函式從候選清單刪掉、標籤改空清單 [] —— 教「沒有合適工具就輸出 []」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合併 67,500 筆、複製 3 份各自 shuffle(等效 3 epochs,共 202,500 筆)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Function masking(機率 p≈0.67):函式名→隨機字串(長 5–15)、參數名→隨機字串(長 4–10);參數 default 值若洩漏答案也換掉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訓練:Qwen2-Instruct 1.5B/4B/7B;LoRA r32(target=all)、lr 5e-5、cosine、CE 只算 response;LLaMA-Factory + ZeRO-2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推論:不做任何 masking(原始名稱照給);greedy;輸出空清單=拒答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≈ GPT-4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BFCL-v2:Hammer-7B
僅次閉源 GPT-4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SOTA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Parallel Multiple
(最難類別)AST+Exec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5 基準最穩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API-Bank/Tool-Alpaca/
Seal-Tools/NexusRaven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p = 0.67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遮罩比例
(1/3 樣本保留原名)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masking = 把「名字先驗」踢出訓練訊號 → 泛化到陌生命名慣例。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同資料訓的 xLAM 跨基準波動大 —— 對照出遮罩的價值。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irrelevance 比例有取捨(拒答↑ vs 呼叫準確率↓),消融給曲線。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出處:ICLR 2025 Spotlight(yVQcr4qjD6)/ arXiv:2410.04587。未公開:Table 2/3 逐格;Hammer-4b 基座存疑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E 類|ToolACE(ICLR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合成資料的天花板:自進化 API 池 + 難度貼合 + 雙層驗證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問題:真實函式呼叫資料難收集 → 全自動合成「準、雜、難」的資料,把 8B 練到 GPT-4 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TSS 工具自進化:從預訓練語料的 API 文件抽功能 → 階層 context tree → 抽子樹生成新 API 定義(含巢狀參數型別),突變後寫回池 → 26,507 API / 390 域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複雜度評估器 = 待訓模型自己:用樣本平均 token loss 當難度;先標定「已會(下界)~ 學不動(上界)」的目標區間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多代理生成:user / assistant / tool 三個 LLM 角色扮演;assistant 動作做自一致(多次決策取一致者);產四類資料:single / parallel / dependent / non-tool-use,單輪+多輪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自引導複雜化:樣本太簡單 → 讓 user 加難(更多 API、措辭更間接);太難 → 簡化 —— 難度貼著模型當前能力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DLV 雙層驗證:規則層(JSON schema / 可執行性 / 對話正確性 / 樣本一致性)+ 模型層檢查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SFT:LLaMA-3.1-8B-Instruct;LoRA r16 α32、lr 1e-4、batch 48、3 epochs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59.22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BFCL-v3 Overall:#3
(兩個 GPT-4 為 59.49/59.29)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26,507 / 390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API 池 / 領域
(ToolLLM:16,464/49)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75.94 / 47.41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API-Bank Call /
Retrieve+Call(開源最佳)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自己當難度計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evaluator=learner 勝
Qwen-14B(59.22&gt;57.67)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59669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「難度要對齊待訓模型本身」—— 用別的模型評難度反而差。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舊版 BFCL-v1 口徑 91.41 常被誤引;camera-ready 已改 v3 口徑。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資料中心路線:能力可以用合成資料「蒸」進小模型。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出處:ICLR 2025(8EB8k6DdCU)/ arXiv:2409.00920。未公開:合成總條數、各 agent 底層 LLM、硬體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F 類|RAG-MCP(arXiv 2505.03275)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把「工具發現」搬出 prompt:先檢索、只塞選中的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問題:MCP 工具全塞 prompt → context 汙染,選對率崩到 13.62% → 外掛向量索引先選再給。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離線:所有 MCP 工具 schema(名稱+功能描述文字)逐一編碼成向量入外部索引;新增 MCP 只加索引、不動模型與模板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線上:使用者任務描述編碼 → 對索引做語意 kNN:T_k = argtop-k sim(e_q, e_t)(原文以 cosine 為例)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③(可選)候選驗證:對檢索回的候選生成 few-shot 測試查詢做 sanity check,確認可用再入選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注入:只把最終選中 MCP 的 schema(含參數資訊)+ 任務放進 prompt → LLM 以 function calling 規劃執行(主實驗 qwen-max-0125,≤10 輪互動,Deepseek-v3 判分)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壓力測試(NIAH 式):N 個候選 =1 gold WebSearch MCP+(N−1) 干擾;N 從 1 掃到 11,100、26 個區間,量 accuracy/tokens/latency 熱圖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43.13%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選對率(全塞 13.62%、
關鍵字過濾 18.20%)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1,084 vs 2,134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平均 prompt tokens
(−50%+)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N→11,100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壓力測試規模
(非單調退化)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31.2%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千級工具池退化
(第三方 1000 工具實測)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立論=「失能是情境性」:同一凍結模型、只改 context,準確率 3.2×。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gold 明明在 prompt 裡、干擾一多就選不出 —— NIAH 式失敗。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自承千級池退化:單層向量索引的天花板(→ 階層路由/圖索引的動機)。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出處:arXiv:2505.03275。未公開:embedding 模型、top-k 值、驗證步驟是否啟用於主表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F 類|MCP-Zero(arXiv 2506.01056,廈門大學)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反轉主客:模型自己「開口要工具」,系統按需遞給它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問題:全塞 schema 讓模型淪為被動選擇器且 context 爆炸 → 讓 LLM 主動宣告能力缺口、階層檢索按需注入。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system prompt 給「許可」:無法自力解決時輸出結構化區塊 &lt;tool_assistant&gt; server:平台/權限領域 tool:操作+對象 &lt;/tool_assistant&gt;;單一對話可多次請求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建索引:官方 repo 蒐 396 個 server → 品質過濾成 308 server/2,797 tools;用 Qwen2.5-72B 抽標準 schema 並生成「能力摘要 summary」;全部文字用 text-embedding-3-large(3072 維)預算 embedding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階層路由(coarse-to-fine):server 欄位同時對「原始描述」與「LLM 摘要」算相似度取高分(dual-matching)→ top-m 候選 server;再在候選內用 tool 欄位對工具描述算 cosine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排名分數 score = (s_server × s_tool) × max(s_server, s_tool) → 取 top-1 schema 注回 context(分數接近可動態放大 k)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迭代:模型自評工具夠不夠,不夠就改寫請求再檢索;逐步跨 server 組 toolchain;+1 條 ICL 範例可校準請求措辭再提升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95.19%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APIBank 全池準確率
(全塞基線 69.23%)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−98.24%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tokens(6,308→111)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90.32%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多輪全池(全塞 60.22%)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71.63%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純 query 檢索基線
(→模型改寫是關鍵)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語意對齊優勢:cos(e_request, e_tool) &gt; cos(e_query, e_tool)——模型生成的請求比原始查詢更貼工具文件語意空間。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規模 ×40(Domain→Full)全塞崩 28~40 點,MCP-Zero 幾乎不掉。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附 MCP-tools 資料集與程式碼(github.com/xfey/MCP-Zero)。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出處:arXiv:2506.01056。未公開:top-m 值、動態 k 判準、needle 熱圖逐點數字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F 類|ScaleMCP(arXiv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5,000 個 MCP server 的「活系統」:索引自動同步 + 代理自主檢索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問題:MCP 工具隨時上下架,人工維護工具庫必然過期 → server 當唯一真相源,hash 驅動 CRUD,代理自己呼叫檢索工具。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035040" cy="452628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56235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完整方法(重現級)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① 自動同步:定期讀所有 MCP server 的工具全集,每工具以 name+description+parameters 算 SHA-256 hash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② hash 比對 CRUD:相同→不動;不同→刪舊重索引;server 新增→建;server 移除→刪 —— 全程免人工重建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③ 工具文件四成分:name / description / parameters / synthetic questions(LLM 每工具生成 10 條模擬問句)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④ TDWA 加權嵌入:各成分分別嵌入後加權平均(var-1=[.2,.2,.2,.4]、var-2=[.2,.3,0,.5]);基線=全部串接直接嵌入(Concat)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⑤ 推論 = agentic retrieval:給代理一個「MCP 檢索工具」;多輪迴圈中自主下查詢 → top-K 工具 schema 加進記憶 → 原生 function calling 直呼 MCP server;不夠再查</a:t>
            </a:r>
          </a:p>
          <a:p>
            <a:pPr algn="l">
              <a:spcAft>
                <a:spcPts val="350"/>
              </a:spcAft>
            </a:pPr>
            <a:r>
              <a:rPr sz="108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⑥ 評測:Fortune 1000 × 每家 5 個 yfinance 財務工具 = 5,000 servers;10 LLM × 5 嵌入模型 × 5 檢索配置全掃(含 Cohere/LLM reranker)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0.912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最佳 Recall@5
(GPT-4o reranker+Concat)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53728" y="1719072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792224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0.672 / 0.539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最佳 NDCG@5 / MAP@5
(Claude 3.7 rerank)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54% / 86.7%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gpt-4o-mini 工具正確率
/ 任務完成率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834639"/>
            <a:ext cx="23957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07791"/>
            <a:ext cx="224942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23–54%</a:t>
            </a:r>
          </a:p>
          <a:p>
            <a:pPr algn="ctr"/>
            <a:r>
              <a:rPr sz="10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各 LLM 工具正確率
(遠低於完成率!)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4937760" cy="222199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114800"/>
            <a:ext cx="4617720" cy="2039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2410C"/>
                </a:solidFill>
                <a:latin typeface="Microsoft JhengHei"/>
                <a:ea typeface="Microsoft JhengHei"/>
                <a:cs typeface="Microsoft JhengHei"/>
              </a:rPr>
              <a:t>關鍵設計與重現要點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關鍵發現:任務完成率高會「掩蓋」工具正確率低 —— 模型會編出流暢答案但沒叫對工具;兩者要分開量。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檢索是代理迴圈的一部分(非啟動前一次性)—— 與 MCP-Zero 同哲學、不同入口。</a:t>
            </a:r>
          </a:p>
          <a:p>
            <a:pPr algn="l">
              <a:spcAft>
                <a:spcPts val="250"/>
              </a:spcAft>
            </a:pPr>
            <a:r>
              <a:rPr sz="1030" b="0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• 零訓練:全靠現成嵌入模型 + 原生 function calling。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出處:arXiv:2505.06416(未見會議版)。未公開:10 個 LLM 全清單、查詢總數(~140k 為二手)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21 個方法一張表:類別 / 出處 / 成本 / 一句話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691640"/>
                <a:gridCol w="2926080"/>
                <a:gridCol w="4434840"/>
              </a:tblGrid>
              <a:tr h="22236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方法(類)</a:t>
                      </a:r>
                    </a:p>
                  </a:txBody>
                  <a:tcPr marL="45720" marR="27432" marT="7315" marB="7315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Venue</a:t>
                      </a:r>
                    </a:p>
                  </a:txBody>
                  <a:tcPr marL="45720" marR="27432" marT="7315" marB="7315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需要什麼(成本)</a:t>
                      </a:r>
                    </a:p>
                  </a:txBody>
                  <a:tcPr marL="45720" marR="27432" marT="7315" marB="7315">
                    <a:solidFill>
                      <a:srgbClr val="17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一句話戰績</a:t>
                      </a:r>
                    </a:p>
                  </a:txBody>
                  <a:tcPr marL="45720" marR="27432" marT="7315" marB="7315">
                    <a:solidFill>
                      <a:srgbClr val="172A4A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Re-Invoke(A)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EMNLP'24 F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零訓練;LLM 合成+抽取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nDCG@5 相對 +20%/+39%(ToolE 單/多)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EasyTool(A)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NAACL'25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零訓練;LLM 改寫文件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文件 −70.4% tokens;救活開源 7B(0→37+)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Toolshed(A)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ICAART'25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零訓練;RAG 全家桶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Recall@5 絕對 +46~56(vs BM25)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AnyTool(A)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ICML'24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零訓練;GPT-4 多輪呼叫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 rate 58.2%(+35.4pt vs ToolLLM)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ToolRerank(A)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LREC-COLING'24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 3 個 BERT-base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六子集兩指標全勝;揭示 seen/unseen 要分治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ToolLLM-IR(B)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ICLR'24 Spot.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ChatGPT 標註+訓雙塔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NDCG 平均 78.0/84.9(BM25 18.5/17.0)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COLT(B)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CIKM'24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訓雙塔+圖對比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11M 勝 340M;提出 COMP@K 完整性指標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TinyAgent(B)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EMNLP'24 Demo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80K 合成+LoRA+DeBERTa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1.1B/7B 本地贏 GPT-4-Turbo;召回 0.998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ToolRet-train(B)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ACL'25 F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200k 檢索任務微調 IR 模型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zero-shot 最強僅 33.83 nDCG@10;微調補課有效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DTDR(B)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arXiv'25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示範軌跡+線性層/分群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端到端 +23~104%;9 步計畫 85.1% vs 12.9%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ToolNet(C)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arXiv'24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軌跡建圖(免訓練)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數千工具;token 1/6~1/2;EM 全面升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TGR(C)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arXiv'25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訓依賴判別器(TDI300K)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疊 ToolBench-IR 再創 SOTA;Pass@5 +0.06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ToolkenGPT(D)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NeurIPS'23 Oral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只訓工具 embedding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凍結 33B 勝 ChatGPT(FuncQA);KAMEL 不衰減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ToolGen(D)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ICLR'25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47k token 進詞表、三階段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NDCG@5 91.5 vs 雙塔 75.0;端到端最佳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Octopus v2(D)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arXiv'24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 API 1k 合成+微調 2B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99.52%、0.38s、context −95%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Gorilla(E)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NeurIPS'24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self-instruct+RAT 微調 7B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0-shot 勝 GPT-4 +20.4pt;幻覺可壓到 0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Hammer(E)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ICLR'25 Spot.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60k+7.5k、遮罩 LoRA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7B ≈ GPT-4(BFCL-v2);五基準最穩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ToolACE(E)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ICLR'25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26.5k API 池合成+LoRA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8B BFCL-v3 59.22 ≈ GPT-4(59.49)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RAG-MCP(F)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arXiv'25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零訓練;向量索引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選對率 13.62%→43.13%;tokens −50%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  <a:tr h="22236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MCP-Zero(F)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arXiv'25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零訓練;主動請求+路由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全池 95.19%(全塞 69.23);tokens −98%</a:t>
                      </a:r>
                    </a:p>
                  </a:txBody>
                  <a:tcPr marL="45720" marR="27432" marT="7315" marB="7315">
                    <a:solidFill>
                      <a:srgbClr val="F3F4F6"/>
                    </a:solidFill>
                  </a:tcPr>
                </a:tc>
              </a:tr>
              <a:tr h="222375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ScaleMCP(F)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arXiv'25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零訓練;hash 同步+TDWA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80" b="0">
                          <a:solidFill>
                            <a:srgbClr val="1F293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5,000 servers;揭示完成率≠工具正確率</a:t>
                      </a:r>
                    </a:p>
                  </a:txBody>
                  <a:tcPr marL="45720" marR="27432" marT="7315" marB="731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F=Findings;Spot.=Spotlight;數字口徑見各方法頁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參考文獻(1/2)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2014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【三大 ML 會議】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[1] Qin, Y., et al. ToolLLM: Facilitating Large Language Models to Master 16000+ Real-world APIs. In ICLR 2024 (Spotlight). arXiv:2307.16789.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[2] Hao, S., Liu, T., Wang, Z., Hu, Z. ToolkenGPT: Augmenting Frozen Language Models with Massive Tools via Tool Embeddings. In NeurIPS 2023 (Oral). arXiv:2305.11554.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[3] Patil, S. G., Zhang, T., Wang, X., Gonzalez, J. E. Gorilla: Large Language Model Connected with Massive APIs. In NeurIPS 2024. arXiv:2305.15334.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[4] Du, Y., Wei, F., Zhang, H. AnyTool: Self-Reflective, Hierarchical Agents for Large-Scale API Calls. In ICML 2024 (PMLR 235). arXiv:2402.04253.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[5] Wang, R., Han, X., Ji, L., Wang, S., Baldwin, T., Li, H. ToolGen: Unified Tool Retrieval and Calling via Generation. In ICLR 2025. arXiv:2410.03439.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[6] Lin, Q., et al. Hammer: Robust Function-Calling for On-Device Language Models via Function Masking. In ICLR 2025 (Spotlight). arXiv:2410.04587.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[7] Liu, W., et al. ToolACE: Winning the Points of LLM Function Calling. In ICLR 2025. arXiv:2409.00920.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【ACL 系 / 其他一級會議】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[8] Qu, C., Dai, S., et al. Towards Completeness-Oriented Tool Retrieval for Large Language Models (COLT). In CIKM 2024, pp. 1930–1940. arXiv:2405.16089.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[9] Chen, Y., Yoon, J., et al. Re-Invoke: Tool Invocation Rewriting for Zero-Shot Tool Retrieval. In Findings of EMNLP 2024. arXiv:2408.01875.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[10] Zheng, Y., et al. ToolRerank: Adaptive and Hierarchy-Aware Reranking for Tool Retrieval. In LREC-COLING 2024. arXiv:2403.06551.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[11] Erdogan, L. E., Lee, N., et al. TinyAgent: Function Calling at the Edge. In EMNLP 2024 (System Demonstrations). arXiv:2409.00608.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[12] Yuan, S., et al. EasyTool: Enhancing LLM-based Agents with Concise Tool Instruction. In NAACL 2025. arXiv:2401.06201.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[13] Shi, Z., et al. Retrieval Models Aren't Tool-Savvy: Benchmarking Tool Retrieval for LLMs (ToolRet). In Findings of ACL 2025. arXiv:2503.01763.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[14] Lumer, E., et al. Toolshed: Scale Tool-Equipped Agents with Advanced RAG-Tool Fusion and Tool Knowledge Bases. In ICAART 2025. arXiv:2410.14594.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72A4A"/>
                </a:solidFill>
                <a:latin typeface="Microsoft JhengHei"/>
                <a:ea typeface="Microsoft JhengHei"/>
                <a:cs typeface="Microsoft JhengHe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參考文獻(2/2)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7" y="1188720"/>
            <a:ext cx="1051560" cy="41148"/>
          </a:xfrm>
          <a:prstGeom prst="roundRect">
            <a:avLst>
              <a:gd name="adj" fmla="val 50000"/>
            </a:avLst>
          </a:prstGeom>
          <a:solidFill>
            <a:srgbClr val="17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2014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【arXiv(尚未見會議版)】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[15] Liu, X., et al. ToolNet: Connecting Large Language Models with Massive Tools via Tool Graph. arXiv:2403.00839, 2024.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[16] Gao, L., et al. Tool Graph Retriever: Exploring Dependency Graph-based Tool Retrieval for LLMs. arXiv:2508.05152, 2025.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[17] Patel, B., Belli, D., et al. Dynamic Tool Dependency Retrieval for Lightweight Function Calling. arXiv:2512.17052, 2025 (Qualcomm AI Research).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[18] Chen, W., Li, Z. Octopus v2: On-device Language Model for Super Agent. arXiv:2404.01744, 2024.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[19] Gan, T., Sun, Q. RAG-MCP: Mitigating Prompt Bloat in LLM Tool Selection via Retrieval-Augmented Generation. arXiv:2505.03275, 2025.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[20] Fei, X., Zheng, X., Feng, H. MCP-Zero: Active Tool Discovery for Autonomous LLM Agents. arXiv:2506.01056, 2025.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[21] Lumer, E., et al. ScaleMCP: Dynamic and Auto-Synchronizing Model Context Protocol Tools for LLM Agents. arXiv:2505.06416, 2025.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937"/>
                </a:solidFill>
                <a:latin typeface="Microsoft JhengHei"/>
                <a:ea typeface="Microsoft JhengHei"/>
                <a:cs typeface="Microsoft JhengHei"/>
              </a:rPr>
              <a:t>【整理方法說明】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各方法的步驟、超參數與數字於 2026-07 由 17 個平行研究代理經 642 次網路搜尋逐篇查證(arXiv HTML / 官方 GitHub / ACL Anthology / OpenReview / 評論站交叉比對);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DTDR 為本地 PDF 原文精讀。查證不到的細節一律標「未公開」,不虛構;部分實作細節(如超參數)出自官方程式碼而非論文正文,已於各頁標註。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配套文件:《LLM工具檢索_綜述.md》(引用與 benchmark 總表)、《LLM工具檢索_入門簡報.pptx》(白話版)、《對手方法完整解析_簡報.pptx》(activation 系七篇)。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33272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411480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